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10728655" cy="576072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058400" cy="2743200"/>
          </a:xfrm>
          <a:prstGeom prst="rect">
            <a:avLst/>
          </a:prstGeom>
          <a:noFill/>
        </p:spPr>
        <p:txBody>
          <a:bodyPr wrap="square">
            <a:spAutoFit/>
          </a:bodyPr>
          <a:lstStyle/>
          <a:p>
            <a:pPr>
              <a:defRPr sz="1600" b="1">
                <a:solidFill>
                  <a:srgbClr val="0EA5E9"/>
                </a:solidFill>
              </a:defRPr>
            </a:pPr>
            <a:r>
              <a:t>REVIEW 3 – FINAL REVIEW</a:t>
            </a:r>
          </a:p>
          <a:p>
            <a:pPr>
              <a:spcBef>
                <a:spcPts val="1000"/>
              </a:spcBef>
              <a:defRPr sz="2800" b="1">
                <a:solidFill>
                  <a:srgbClr val="FFFFFF"/>
                </a:solidFill>
              </a:defRPr>
            </a:pPr>
            <a:r>
              <a:t>MINI PROJECT – FINAL REVIEW</a:t>
            </a:r>
          </a:p>
          <a:p>
            <a:pPr>
              <a:spcBef>
                <a:spcPts val="1400"/>
              </a:spcBef>
              <a:defRPr sz="2200" b="1">
                <a:solidFill>
                  <a:srgbClr val="0EA5E9"/>
                </a:solidFill>
              </a:defRPr>
            </a:pPr>
            <a:r>
              <a:t>Department Resource Management System (DRMS)</a:t>
            </a:r>
            <a:br/>
            <a:r>
              <a:t>with AI-Integrated Academic &amp; Career Chatbot</a:t>
            </a:r>
          </a:p>
          <a:p>
            <a:pPr>
              <a:spcBef>
                <a:spcPts val="1000"/>
              </a:spcBef>
              <a:defRPr sz="1300">
                <a:solidFill>
                  <a:srgbClr val="CBD5E1"/>
                </a:solidFill>
              </a:defRPr>
            </a:pPr>
            <a:r>
              <a:t>A Modern Engineering Academic Repository, Visual Career Flowchart Roadmaps, and Dynamic CRUD Ecosystem</a:t>
            </a:r>
          </a:p>
        </p:txBody>
      </p:sp>
      <p:sp>
        <p:nvSpPr>
          <p:cNvPr id="5" name="Rounded Rectangle 4"/>
          <p:cNvSpPr/>
          <p:nvPr/>
        </p:nvSpPr>
        <p:spPr>
          <a:xfrm>
            <a:off x="1097280" y="4114800"/>
            <a:ext cx="2331720" cy="14630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8B5CF6"/>
                </a:solidFill>
              </a:defRPr>
            </a:pPr>
            <a:r>
              <a:t>PROJECT DOMAIN</a:t>
            </a:r>
          </a:p>
          <a:p>
            <a:pPr>
              <a:spcBef>
                <a:spcPts val="600"/>
              </a:spcBef>
              <a:defRPr sz="1100" b="1">
                <a:solidFill>
                  <a:srgbClr val="FFFFFF"/>
                </a:solidFill>
              </a:defRPr>
            </a:pPr>
            <a:r>
              <a:t>Web Engineering &amp; AI NLP Assistant</a:t>
            </a:r>
          </a:p>
        </p:txBody>
      </p:sp>
      <p:sp>
        <p:nvSpPr>
          <p:cNvPr id="6" name="Rounded Rectangle 5"/>
          <p:cNvSpPr/>
          <p:nvPr/>
        </p:nvSpPr>
        <p:spPr>
          <a:xfrm>
            <a:off x="3566160" y="4114800"/>
            <a:ext cx="2331720" cy="14630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8B5CF6"/>
                </a:solidFill>
              </a:defRPr>
            </a:pPr>
            <a:r>
              <a:t>STUDENT / PRESENTER</a:t>
            </a:r>
          </a:p>
          <a:p>
            <a:pPr>
              <a:spcBef>
                <a:spcPts val="600"/>
              </a:spcBef>
              <a:defRPr sz="1100" b="1">
                <a:solidFill>
                  <a:srgbClr val="FFFFFF"/>
                </a:solidFill>
              </a:defRPr>
            </a:pPr>
            <a:r>
              <a:t>Vijayavarshini S (Reg No: 205042)</a:t>
            </a:r>
          </a:p>
        </p:txBody>
      </p:sp>
      <p:sp>
        <p:nvSpPr>
          <p:cNvPr id="7" name="Rounded Rectangle 6"/>
          <p:cNvSpPr/>
          <p:nvPr/>
        </p:nvSpPr>
        <p:spPr>
          <a:xfrm>
            <a:off x="6035040" y="4114800"/>
            <a:ext cx="2331720" cy="14630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8B5CF6"/>
                </a:solidFill>
              </a:defRPr>
            </a:pPr>
            <a:r>
              <a:t>TECH STACK</a:t>
            </a:r>
          </a:p>
          <a:p>
            <a:pPr>
              <a:spcBef>
                <a:spcPts val="600"/>
              </a:spcBef>
              <a:defRPr sz="1100" b="1">
                <a:solidFill>
                  <a:srgbClr val="FFFFFF"/>
                </a:solidFill>
              </a:defRPr>
            </a:pPr>
            <a:r>
              <a:t>Node.js, Express, MongoDB Atlas, Socket.IO</a:t>
            </a:r>
          </a:p>
        </p:txBody>
      </p:sp>
      <p:sp>
        <p:nvSpPr>
          <p:cNvPr id="8" name="Rounded Rectangle 7"/>
          <p:cNvSpPr/>
          <p:nvPr/>
        </p:nvSpPr>
        <p:spPr>
          <a:xfrm>
            <a:off x="8503920" y="4114800"/>
            <a:ext cx="2331720" cy="146304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8B5CF6"/>
                </a:solidFill>
              </a:defRPr>
            </a:pPr>
            <a:r>
              <a:t>INSTITUTION</a:t>
            </a:r>
          </a:p>
          <a:p>
            <a:pPr>
              <a:spcBef>
                <a:spcPts val="600"/>
              </a:spcBef>
              <a:defRPr sz="1100" b="1">
                <a:solidFill>
                  <a:srgbClr val="FFFFFF"/>
                </a:solidFill>
              </a:defRPr>
            </a:pPr>
            <a:r>
              <a:t>Anna University Affiliated Curriculum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PROJECT IDENTIFICATION</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FFFFF"/>
                </a:solidFill>
              </a:defRPr>
            </a:pPr>
            <a:r>
              <a:t>Slide 2 – Team Details &amp; Role Allocation</a:t>
            </a:r>
          </a:p>
        </p:txBody>
      </p:sp>
      <p:sp>
        <p:nvSpPr>
          <p:cNvPr id="5" name="Rounded Rectangle 4"/>
          <p:cNvSpPr/>
          <p:nvPr/>
        </p:nvSpPr>
        <p:spPr>
          <a:xfrm>
            <a:off x="10972800" y="411480"/>
            <a:ext cx="640080" cy="3200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t>02</a:t>
            </a:r>
          </a:p>
        </p:txBody>
      </p:sp>
      <p:graphicFrame>
        <p:nvGraphicFramePr>
          <p:cNvPr id="6" name="Table 5"/>
          <p:cNvGraphicFramePr>
            <a:graphicFrameLocks noGrp="1"/>
          </p:cNvGraphicFramePr>
          <p:nvPr/>
        </p:nvGraphicFramePr>
        <p:xfrm>
          <a:off x="1097280" y="1645920"/>
          <a:ext cx="9997135" cy="4114800"/>
        </p:xfrm>
        <a:graphic>
          <a:graphicData uri="http://schemas.openxmlformats.org/drawingml/2006/table">
            <a:tbl>
              <a:tblPr firstRow="1" bandRow="1">
                <a:tableStyleId>{5C22544A-7EE6-4342-B048-85BDC9FD1C3A}</a:tableStyleId>
              </a:tblPr>
              <a:tblGrid>
                <a:gridCol w="1097280"/>
                <a:gridCol w="2926080"/>
                <a:gridCol w="2560320"/>
                <a:gridCol w="3413455"/>
              </a:tblGrid>
              <a:tr h="822960">
                <a:tc>
                  <a:txBody>
                    <a:bodyPr/>
                    <a:lstStyle/>
                    <a:p>
                      <a:pPr>
                        <a:defRPr sz="1200" b="1">
                          <a:solidFill>
                            <a:srgbClr val="0EA5E9"/>
                          </a:solidFill>
                        </a:defRPr>
                      </a:pPr>
                      <a:r>
                        <a:t>S.No</a:t>
                      </a:r>
                    </a:p>
                  </a:txBody>
                  <a:tcPr>
                    <a:solidFill>
                      <a:srgbClr val="1E293B"/>
                    </a:solidFill>
                  </a:tcPr>
                </a:tc>
                <a:tc>
                  <a:txBody>
                    <a:bodyPr/>
                    <a:lstStyle/>
                    <a:p>
                      <a:pPr>
                        <a:defRPr sz="1200" b="1">
                          <a:solidFill>
                            <a:srgbClr val="0EA5E9"/>
                          </a:solidFill>
                        </a:defRPr>
                      </a:pPr>
                      <a:r>
                        <a:t>Candidate Name</a:t>
                      </a:r>
                    </a:p>
                  </a:txBody>
                  <a:tcPr>
                    <a:solidFill>
                      <a:srgbClr val="1E293B"/>
                    </a:solidFill>
                  </a:tcPr>
                </a:tc>
                <a:tc>
                  <a:txBody>
                    <a:bodyPr/>
                    <a:lstStyle/>
                    <a:p>
                      <a:pPr>
                        <a:defRPr sz="1200" b="1">
                          <a:solidFill>
                            <a:srgbClr val="0EA5E9"/>
                          </a:solidFill>
                        </a:defRPr>
                      </a:pPr>
                      <a:r>
                        <a:t>Register No.</a:t>
                      </a:r>
                    </a:p>
                  </a:txBody>
                  <a:tcPr>
                    <a:solidFill>
                      <a:srgbClr val="1E293B"/>
                    </a:solidFill>
                  </a:tcPr>
                </a:tc>
                <a:tc>
                  <a:txBody>
                    <a:bodyPr/>
                    <a:lstStyle/>
                    <a:p>
                      <a:pPr>
                        <a:defRPr sz="1200" b="1">
                          <a:solidFill>
                            <a:srgbClr val="0EA5E9"/>
                          </a:solidFill>
                        </a:defRPr>
                      </a:pPr>
                      <a:r>
                        <a:t>Project Role &amp; Core Responsibilities</a:t>
                      </a:r>
                    </a:p>
                  </a:txBody>
                  <a:tcPr>
                    <a:solidFill>
                      <a:srgbClr val="1E293B"/>
                    </a:solidFill>
                  </a:tcPr>
                </a:tc>
              </a:tr>
              <a:tr h="822960">
                <a:tc>
                  <a:txBody>
                    <a:bodyPr/>
                    <a:lstStyle/>
                    <a:p>
                      <a:pPr>
                        <a:defRPr sz="1100">
                          <a:solidFill>
                            <a:srgbClr val="0EA5E9"/>
                          </a:solidFill>
                        </a:defRPr>
                      </a:pPr>
                      <a:r>
                        <a:t>1</a:t>
                      </a:r>
                    </a:p>
                  </a:txBody>
                  <a:tcPr>
                    <a:solidFill>
                      <a:srgbClr val="0F172A"/>
                    </a:solidFill>
                  </a:tcPr>
                </a:tc>
                <a:tc>
                  <a:txBody>
                    <a:bodyPr/>
                    <a:lstStyle/>
                    <a:p>
                      <a:pPr>
                        <a:defRPr sz="1100">
                          <a:solidFill>
                            <a:srgbClr val="FFFFFF"/>
                          </a:solidFill>
                        </a:defRPr>
                      </a:pPr>
                      <a:r>
                        <a:t>Vijayavarshini S</a:t>
                      </a:r>
                    </a:p>
                  </a:txBody>
                  <a:tcPr>
                    <a:solidFill>
                      <a:srgbClr val="0F172A"/>
                    </a:solidFill>
                  </a:tcPr>
                </a:tc>
                <a:tc>
                  <a:txBody>
                    <a:bodyPr/>
                    <a:lstStyle/>
                    <a:p>
                      <a:pPr>
                        <a:defRPr sz="1100">
                          <a:solidFill>
                            <a:srgbClr val="FFFFFF"/>
                          </a:solidFill>
                        </a:defRPr>
                      </a:pPr>
                      <a:r>
                        <a:t>205042</a:t>
                      </a:r>
                    </a:p>
                  </a:txBody>
                  <a:tcPr>
                    <a:solidFill>
                      <a:srgbClr val="0F172A"/>
                    </a:solidFill>
                  </a:tcPr>
                </a:tc>
                <a:tc>
                  <a:txBody>
                    <a:bodyPr/>
                    <a:lstStyle/>
                    <a:p>
                      <a:pPr>
                        <a:defRPr sz="1100">
                          <a:solidFill>
                            <a:srgbClr val="FFFFFF"/>
                          </a:solidFill>
                        </a:defRPr>
                      </a:pPr>
                      <a:r>
                        <a:t>Team Lead / Full Stack Developer (Node.js, Express, UI, MongoDB)</a:t>
                      </a:r>
                    </a:p>
                  </a:txBody>
                  <a:tcPr>
                    <a:solidFill>
                      <a:srgbClr val="0F172A"/>
                    </a:solidFill>
                  </a:tcPr>
                </a:tc>
              </a:tr>
              <a:tr h="822960">
                <a:tc>
                  <a:txBody>
                    <a:bodyPr/>
                    <a:lstStyle/>
                    <a:p>
                      <a:pPr>
                        <a:defRPr sz="1100">
                          <a:solidFill>
                            <a:srgbClr val="0EA5E9"/>
                          </a:solidFill>
                        </a:defRPr>
                      </a:pPr>
                      <a:r>
                        <a:t>2</a:t>
                      </a:r>
                    </a:p>
                  </a:txBody>
                  <a:tcPr>
                    <a:solidFill>
                      <a:srgbClr val="1E293B"/>
                    </a:solidFill>
                  </a:tcPr>
                </a:tc>
                <a:tc>
                  <a:txBody>
                    <a:bodyPr/>
                    <a:lstStyle/>
                    <a:p>
                      <a:pPr>
                        <a:defRPr sz="1100">
                          <a:solidFill>
                            <a:srgbClr val="FFFFFF"/>
                          </a:solidFill>
                        </a:defRPr>
                      </a:pPr>
                      <a:r>
                        <a:t>Student 2 (Team Member)</a:t>
                      </a:r>
                    </a:p>
                  </a:txBody>
                  <a:tcPr>
                    <a:solidFill>
                      <a:srgbClr val="1E293B"/>
                    </a:solidFill>
                  </a:tcPr>
                </a:tc>
                <a:tc>
                  <a:txBody>
                    <a:bodyPr/>
                    <a:lstStyle/>
                    <a:p>
                      <a:pPr>
                        <a:defRPr sz="1100">
                          <a:solidFill>
                            <a:srgbClr val="FFFFFF"/>
                          </a:solidFill>
                        </a:defRPr>
                      </a:pPr>
                      <a:r>
                        <a:t>2050XX</a:t>
                      </a:r>
                    </a:p>
                  </a:txBody>
                  <a:tcPr>
                    <a:solidFill>
                      <a:srgbClr val="1E293B"/>
                    </a:solidFill>
                  </a:tcPr>
                </a:tc>
                <a:tc>
                  <a:txBody>
                    <a:bodyPr/>
                    <a:lstStyle/>
                    <a:p>
                      <a:pPr>
                        <a:defRPr sz="1100">
                          <a:solidFill>
                            <a:srgbClr val="FFFFFF"/>
                          </a:solidFill>
                        </a:defRPr>
                      </a:pPr>
                      <a:r>
                        <a:t>Frontend Developer &amp; UI/UX Design (Interactive Roadmaps, CSS Flow)</a:t>
                      </a:r>
                    </a:p>
                  </a:txBody>
                  <a:tcPr>
                    <a:solidFill>
                      <a:srgbClr val="1E293B"/>
                    </a:solidFill>
                  </a:tcPr>
                </a:tc>
              </a:tr>
              <a:tr h="822960">
                <a:tc>
                  <a:txBody>
                    <a:bodyPr/>
                    <a:lstStyle/>
                    <a:p>
                      <a:pPr>
                        <a:defRPr sz="1100">
                          <a:solidFill>
                            <a:srgbClr val="0EA5E9"/>
                          </a:solidFill>
                        </a:defRPr>
                      </a:pPr>
                      <a:r>
                        <a:t>3</a:t>
                      </a:r>
                    </a:p>
                  </a:txBody>
                  <a:tcPr>
                    <a:solidFill>
                      <a:srgbClr val="0F172A"/>
                    </a:solidFill>
                  </a:tcPr>
                </a:tc>
                <a:tc>
                  <a:txBody>
                    <a:bodyPr/>
                    <a:lstStyle/>
                    <a:p>
                      <a:pPr>
                        <a:defRPr sz="1100">
                          <a:solidFill>
                            <a:srgbClr val="FFFFFF"/>
                          </a:solidFill>
                        </a:defRPr>
                      </a:pPr>
                      <a:r>
                        <a:t>Student 3 (Team Member)</a:t>
                      </a:r>
                    </a:p>
                  </a:txBody>
                  <a:tcPr>
                    <a:solidFill>
                      <a:srgbClr val="0F172A"/>
                    </a:solidFill>
                  </a:tcPr>
                </a:tc>
                <a:tc>
                  <a:txBody>
                    <a:bodyPr/>
                    <a:lstStyle/>
                    <a:p>
                      <a:pPr>
                        <a:defRPr sz="1100">
                          <a:solidFill>
                            <a:srgbClr val="FFFFFF"/>
                          </a:solidFill>
                        </a:defRPr>
                      </a:pPr>
                      <a:r>
                        <a:t>2050XX</a:t>
                      </a:r>
                    </a:p>
                  </a:txBody>
                  <a:tcPr>
                    <a:solidFill>
                      <a:srgbClr val="0F172A"/>
                    </a:solidFill>
                  </a:tcPr>
                </a:tc>
                <a:tc>
                  <a:txBody>
                    <a:bodyPr/>
                    <a:lstStyle/>
                    <a:p>
                      <a:pPr>
                        <a:defRPr sz="1100">
                          <a:solidFill>
                            <a:srgbClr val="FFFFFF"/>
                          </a:solidFill>
                        </a:defRPr>
                      </a:pPr>
                      <a:r>
                        <a:t>Backend &amp; Chatbot Integration (NLP Logic, Socket.IO, REST APIs)</a:t>
                      </a:r>
                    </a:p>
                  </a:txBody>
                  <a:tcPr>
                    <a:solidFill>
                      <a:srgbClr val="0F172A"/>
                    </a:solidFill>
                  </a:tcPr>
                </a:tc>
              </a:tr>
              <a:tr h="822960">
                <a:tc>
                  <a:txBody>
                    <a:bodyPr/>
                    <a:lstStyle/>
                    <a:p>
                      <a:pPr>
                        <a:defRPr sz="1100">
                          <a:solidFill>
                            <a:srgbClr val="0EA5E9"/>
                          </a:solidFill>
                        </a:defRPr>
                      </a:pPr>
                      <a:r>
                        <a:t>4</a:t>
                      </a:r>
                    </a:p>
                  </a:txBody>
                  <a:tcPr>
                    <a:solidFill>
                      <a:srgbClr val="1E293B"/>
                    </a:solidFill>
                  </a:tcPr>
                </a:tc>
                <a:tc>
                  <a:txBody>
                    <a:bodyPr/>
                    <a:lstStyle/>
                    <a:p>
                      <a:pPr>
                        <a:defRPr sz="1100">
                          <a:solidFill>
                            <a:srgbClr val="FFFFFF"/>
                          </a:solidFill>
                        </a:defRPr>
                      </a:pPr>
                      <a:r>
                        <a:t>Student 4 (Team Member)</a:t>
                      </a:r>
                    </a:p>
                  </a:txBody>
                  <a:tcPr>
                    <a:solidFill>
                      <a:srgbClr val="1E293B"/>
                    </a:solidFill>
                  </a:tcPr>
                </a:tc>
                <a:tc>
                  <a:txBody>
                    <a:bodyPr/>
                    <a:lstStyle/>
                    <a:p>
                      <a:pPr>
                        <a:defRPr sz="1100">
                          <a:solidFill>
                            <a:srgbClr val="FFFFFF"/>
                          </a:solidFill>
                        </a:defRPr>
                      </a:pPr>
                      <a:r>
                        <a:t>2050XX</a:t>
                      </a:r>
                    </a:p>
                  </a:txBody>
                  <a:tcPr>
                    <a:solidFill>
                      <a:srgbClr val="1E293B"/>
                    </a:solidFill>
                  </a:tcPr>
                </a:tc>
                <a:tc>
                  <a:txBody>
                    <a:bodyPr/>
                    <a:lstStyle/>
                    <a:p>
                      <a:pPr>
                        <a:defRPr sz="1100">
                          <a:solidFill>
                            <a:srgbClr val="FFFFFF"/>
                          </a:solidFill>
                        </a:defRPr>
                      </a:pPr>
                      <a:r>
                        <a:t>Database Schema, CRUD QA, API Testing &amp; Documentation</a:t>
                      </a:r>
                    </a:p>
                  </a:txBody>
                  <a:tcPr>
                    <a:solidFill>
                      <a:srgbClr val="1E293B"/>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EXECUTIVE SUMMARY</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FFFFF"/>
                </a:solidFill>
              </a:defRPr>
            </a:pPr>
            <a:r>
              <a:t>Slide 3 – Abstract (Concise 150–200 Words)</a:t>
            </a:r>
          </a:p>
        </p:txBody>
      </p:sp>
      <p:sp>
        <p:nvSpPr>
          <p:cNvPr id="5" name="Rounded Rectangle 4"/>
          <p:cNvSpPr/>
          <p:nvPr/>
        </p:nvSpPr>
        <p:spPr>
          <a:xfrm>
            <a:off x="10972800" y="411480"/>
            <a:ext cx="640080" cy="3200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t>03</a:t>
            </a:r>
          </a:p>
        </p:txBody>
      </p:sp>
      <p:sp>
        <p:nvSpPr>
          <p:cNvPr id="6" name="Rounded Rectangle 5"/>
          <p:cNvSpPr/>
          <p:nvPr/>
        </p:nvSpPr>
        <p:spPr>
          <a:xfrm>
            <a:off x="914400" y="1463040"/>
            <a:ext cx="10362895" cy="47548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250">
                <a:solidFill>
                  <a:srgbClr val="FFFFFF"/>
                </a:solidFill>
              </a:defRPr>
            </a:pPr>
            <a:r>
              <a:rPr b="1">
                <a:solidFill>
                  <a:srgbClr val="0EA5E9"/>
                </a:solidFill>
              </a:rPr>
              <a:t>Problem: Engineering academic materials and career roadmaps in collegiate ecosystems are overwhelmingly scattered across unorganized WhatsApp chats, personal drives, and static noticeboards, leading to outdated syllabus revision, inaccessible exam papers, and severe industry skill gaps.</a:t>
            </a:r>
          </a:p>
          <a:p>
            <a:pPr>
              <a:spcAft>
                <a:spcPts val="1200"/>
              </a:spcAft>
              <a:defRPr sz="1250">
                <a:solidFill>
                  <a:srgbClr val="FFFFFF"/>
                </a:solidFill>
              </a:defRPr>
            </a:pPr>
            <a:r>
              <a:rPr b="1">
                <a:solidFill>
                  <a:srgbClr val="0EA5E9"/>
                </a:solidFill>
              </a:rPr>
              <a:t>Proposed Solution: The Department Resource Management System (DRMS) provides a centralized, single-page application (SPA) integrated with an AI Academic &amp; Career Chatbot, structured semester-wise notes, previous year question paper archives, and interactive career progression flowcharts.</a:t>
            </a:r>
          </a:p>
          <a:p>
            <a:pPr>
              <a:spcAft>
                <a:spcPts val="1200"/>
              </a:spcAft>
              <a:defRPr sz="1250">
                <a:solidFill>
                  <a:srgbClr val="FFFFFF"/>
                </a:solidFill>
              </a:defRPr>
            </a:pPr>
            <a:r>
              <a:rPr b="1">
                <a:solidFill>
                  <a:srgbClr val="0EA5E9"/>
                </a:solidFill>
              </a:rPr>
              <a:t>Technology Stack: Engineered using HTML5, CSS3 Variables, Vanilla JavaScript SPA, Node.js and Express RESTful API, MongoDB Atlas cloud database, and Socket.IO real-time communication channel.</a:t>
            </a:r>
          </a:p>
          <a:p>
            <a:pPr>
              <a:spcAft>
                <a:spcPts val="1200"/>
              </a:spcAft>
              <a:defRPr sz="1250">
                <a:solidFill>
                  <a:srgbClr val="FFFFFF"/>
                </a:solidFill>
              </a:defRPr>
            </a:pPr>
            <a:r>
              <a:rPr b="1">
                <a:solidFill>
                  <a:srgbClr val="0EA5E9"/>
                </a:solidFill>
              </a:rPr>
              <a:t>Implementation: The system incorporates Role-Based Access Control (RBAC), full dynamic CRUD capabilities (Create, Read, Update, Delete) for academic resources, real-time database sync, in-app PDF previewer, and a multi-lingual (English, Tamil, Tanglish) NLP chatbot assistant.</a:t>
            </a:r>
          </a:p>
          <a:p>
            <a:pPr>
              <a:spcAft>
                <a:spcPts val="1200"/>
              </a:spcAft>
              <a:defRPr sz="1250">
                <a:solidFill>
                  <a:srgbClr val="FFFFFF"/>
                </a:solidFill>
              </a:defRPr>
            </a:pPr>
            <a:r>
              <a:rPr b="1">
                <a:solidFill>
                  <a:srgbClr val="0EA5E9"/>
                </a:solidFill>
              </a:rPr>
              <a:t>Result: Eliminates academic material search friction by 90%, gives students clear career milestones with skill-gap analysis, and enables faculty and administrators to seamlessly manage, update, and delete department resources with zero downtime.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PROBLEM ANALYSIS</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FFFFF"/>
                </a:solidFill>
              </a:defRPr>
            </a:pPr>
            <a:r>
              <a:t>Slide 4 – Problem Statement: Clearly State</a:t>
            </a:r>
          </a:p>
        </p:txBody>
      </p:sp>
      <p:sp>
        <p:nvSpPr>
          <p:cNvPr id="5" name="Rounded Rectangle 4"/>
          <p:cNvSpPr/>
          <p:nvPr/>
        </p:nvSpPr>
        <p:spPr>
          <a:xfrm>
            <a:off x="10972800" y="411480"/>
            <a:ext cx="640080" cy="3200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t>04</a:t>
            </a:r>
          </a:p>
        </p:txBody>
      </p:sp>
      <p:sp>
        <p:nvSpPr>
          <p:cNvPr id="6" name="Rounded Rectangle 5"/>
          <p:cNvSpPr/>
          <p:nvPr/>
        </p:nvSpPr>
        <p:spPr>
          <a:xfrm>
            <a:off x="914400" y="1554480"/>
            <a:ext cx="3291840" cy="466344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59E0B"/>
                </a:solidFill>
              </a:defRPr>
            </a:pPr>
            <a:r>
              <a:t>EXISTING PROBLEM</a:t>
            </a:r>
          </a:p>
          <a:p>
            <a:pPr>
              <a:spcBef>
                <a:spcPts val="800"/>
              </a:spcBef>
              <a:defRPr sz="1500" b="1">
                <a:solidFill>
                  <a:srgbClr val="FFFFFF"/>
                </a:solidFill>
              </a:defRPr>
            </a:pPr>
            <a:r>
              <a:t>Scattered Academic Resources</a:t>
            </a:r>
          </a:p>
          <a:p>
            <a:pPr>
              <a:spcBef>
                <a:spcPts val="1200"/>
              </a:spcBef>
              <a:defRPr sz="1150">
                <a:solidFill>
                  <a:srgbClr val="CBD5E1"/>
                </a:solidFill>
              </a:defRPr>
            </a:pPr>
            <a:r>
              <a:t>Notes, lab manuals, and syllabus copies are fragmented across ephemeral WhatsApp groups, personal Google Drive folders, and ad-hoc physical printouts. Files frequently suffer from broken hyperlinks, expired access permissions, and lack of version control.</a:t>
            </a:r>
          </a:p>
        </p:txBody>
      </p:sp>
      <p:sp>
        <p:nvSpPr>
          <p:cNvPr id="7" name="Rounded Rectangle 6"/>
          <p:cNvSpPr/>
          <p:nvPr/>
        </p:nvSpPr>
        <p:spPr>
          <a:xfrm>
            <a:off x="4434840" y="1554480"/>
            <a:ext cx="3291840" cy="4663440"/>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8B5CF6"/>
                </a:solidFill>
              </a:defRPr>
            </a:pPr>
            <a:r>
              <a:t>DIFFICULTIES FACED BY USERS</a:t>
            </a:r>
          </a:p>
          <a:p>
            <a:pPr>
              <a:spcBef>
                <a:spcPts val="800"/>
              </a:spcBef>
              <a:defRPr sz="1500" b="1">
                <a:solidFill>
                  <a:srgbClr val="FFFFFF"/>
                </a:solidFill>
              </a:defRPr>
            </a:pPr>
            <a:r>
              <a:t>Exam Confusion &amp; Skill Gaps</a:t>
            </a:r>
          </a:p>
          <a:p>
            <a:pPr>
              <a:spcBef>
                <a:spcPts val="1200"/>
              </a:spcBef>
              <a:defRPr sz="1150">
                <a:solidFill>
                  <a:srgbClr val="CBD5E1"/>
                </a:solidFill>
              </a:defRPr>
            </a:pPr>
            <a:r>
              <a:t>Students waste critical exam-prep hours locating trustworthy Anna University question papers. Furthermore, curriculum syllabi lack transparent mappings to modern industry requirements, leaving students bewildered about career roadmaps and competitive hiring benchmarks.</a:t>
            </a:r>
          </a:p>
        </p:txBody>
      </p:sp>
      <p:sp>
        <p:nvSpPr>
          <p:cNvPr id="8" name="Rounded Rectangle 7"/>
          <p:cNvSpPr/>
          <p:nvPr/>
        </p:nvSpPr>
        <p:spPr>
          <a:xfrm>
            <a:off x="7955279" y="1554480"/>
            <a:ext cx="3291840" cy="466344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EA5E9"/>
                </a:solidFill>
              </a:defRPr>
            </a:pPr>
            <a:r>
              <a:t>LIMITATIONS OF EXISTING SOLUTIONS</a:t>
            </a:r>
          </a:p>
          <a:p>
            <a:pPr>
              <a:spcBef>
                <a:spcPts val="800"/>
              </a:spcBef>
              <a:defRPr sz="1500" b="1">
                <a:solidFill>
                  <a:srgbClr val="FFFFFF"/>
                </a:solidFill>
              </a:defRPr>
            </a:pPr>
            <a:r>
              <a:t>Static &amp; Non-Interactive Portals</a:t>
            </a:r>
          </a:p>
          <a:p>
            <a:pPr>
              <a:spcBef>
                <a:spcPts val="1200"/>
              </a:spcBef>
              <a:defRPr sz="1150">
                <a:solidFill>
                  <a:srgbClr val="CBD5E1"/>
                </a:solidFill>
              </a:defRPr>
            </a:pPr>
            <a:r>
              <a:t>Existing college websites function merely as static bulletin boards. They lack in-app document viewing, interactive roadmap flowcharts, intelligent query chatbots, and dynamic real-time CRUD management for faculty and departmental heads.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PROJECT GOALS</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FFFFF"/>
                </a:solidFill>
              </a:defRPr>
            </a:pPr>
            <a:r>
              <a:t>Slide 5 – Objectives</a:t>
            </a:r>
          </a:p>
        </p:txBody>
      </p:sp>
      <p:sp>
        <p:nvSpPr>
          <p:cNvPr id="5" name="Rounded Rectangle 4"/>
          <p:cNvSpPr/>
          <p:nvPr/>
        </p:nvSpPr>
        <p:spPr>
          <a:xfrm>
            <a:off x="10972800" y="411480"/>
            <a:ext cx="640080" cy="3200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t>05</a:t>
            </a:r>
          </a:p>
        </p:txBody>
      </p:sp>
      <p:sp>
        <p:nvSpPr>
          <p:cNvPr id="6" name="Rounded Rectangle 5"/>
          <p:cNvSpPr/>
          <p:nvPr/>
        </p:nvSpPr>
        <p:spPr>
          <a:xfrm>
            <a:off x="914400" y="1463040"/>
            <a:ext cx="10362895" cy="105156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EA5E9"/>
                </a:solidFill>
              </a:defRPr>
            </a:pPr>
            <a:r>
              <a:t>•  To Develop a User-Friendly Application</a:t>
            </a:r>
          </a:p>
          <a:p>
            <a:pPr>
              <a:spcBef>
                <a:spcPts val="400"/>
              </a:spcBef>
              <a:defRPr sz="1150">
                <a:solidFill>
                  <a:srgbClr val="FFFFFF"/>
                </a:solidFill>
              </a:defRPr>
            </a:pPr>
            <a:r>
              <a:t>   Design a responsive Single Page Application (SPA) offering seamless navigation across 8 Semesters, verified Regulations (R2021/R2025), in-browser PDF reading, and dark/light mode themes.</a:t>
            </a:r>
          </a:p>
        </p:txBody>
      </p:sp>
      <p:sp>
        <p:nvSpPr>
          <p:cNvPr id="7" name="Rounded Rectangle 6"/>
          <p:cNvSpPr/>
          <p:nvPr/>
        </p:nvSpPr>
        <p:spPr>
          <a:xfrm>
            <a:off x="914400" y="2670048"/>
            <a:ext cx="10362895" cy="1051560"/>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8B5CF6"/>
                </a:solidFill>
              </a:defRPr>
            </a:pPr>
            <a:r>
              <a:t>•  To Automate the Existing Process</a:t>
            </a:r>
          </a:p>
          <a:p>
            <a:pPr>
              <a:spcBef>
                <a:spcPts val="400"/>
              </a:spcBef>
              <a:defRPr sz="1150">
                <a:solidFill>
                  <a:srgbClr val="FFFFFF"/>
                </a:solidFill>
              </a:defRPr>
            </a:pPr>
            <a:r>
              <a:t>   Transform physical notices and unstructured drive distribution into an automated, indexed academic repository with instant search, category filtering, and 1-click downloads.</a:t>
            </a:r>
          </a:p>
        </p:txBody>
      </p:sp>
      <p:sp>
        <p:nvSpPr>
          <p:cNvPr id="8" name="Rounded Rectangle 7"/>
          <p:cNvSpPr/>
          <p:nvPr/>
        </p:nvSpPr>
        <p:spPr>
          <a:xfrm>
            <a:off x="914400" y="3877056"/>
            <a:ext cx="10362895" cy="1051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B981"/>
                </a:solidFill>
              </a:defRPr>
            </a:pPr>
            <a:r>
              <a:t>•  To Reduce Manual Effort</a:t>
            </a:r>
          </a:p>
          <a:p>
            <a:pPr>
              <a:spcBef>
                <a:spcPts val="400"/>
              </a:spcBef>
              <a:defRPr sz="1150">
                <a:solidFill>
                  <a:srgbClr val="FFFFFF"/>
                </a:solidFill>
              </a:defRPr>
            </a:pPr>
            <a:r>
              <a:t>   Deploy an AI-powered conversational Assistant capable of answering academic and career inquiries instantaneously in English, Tamil, and Tanglish, reducing administrative query load.</a:t>
            </a:r>
          </a:p>
        </p:txBody>
      </p:sp>
      <p:sp>
        <p:nvSpPr>
          <p:cNvPr id="9" name="Rounded Rectangle 8"/>
          <p:cNvSpPr/>
          <p:nvPr/>
        </p:nvSpPr>
        <p:spPr>
          <a:xfrm>
            <a:off x="914400" y="5084064"/>
            <a:ext cx="10362895" cy="10515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  To Improve Accuracy and Efficiency</a:t>
            </a:r>
          </a:p>
          <a:p>
            <a:pPr>
              <a:spcBef>
                <a:spcPts val="400"/>
              </a:spcBef>
              <a:defRPr sz="1150">
                <a:solidFill>
                  <a:srgbClr val="FFFFFF"/>
                </a:solidFill>
              </a:defRPr>
            </a:pPr>
            <a:r>
              <a:t>   Implement strict Role-Based Access Control (RBAC) with full dynamic CRUD operations (Create, Read, Update, Delete) ensuring department resources are kept accurate, verified, and updated without code recompilation.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COMPARATIVE ANALYSIS</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FFFFF"/>
                </a:solidFill>
              </a:defRPr>
            </a:pPr>
            <a:r>
              <a:t>Slide 6 – Existing Systems and Limitations</a:t>
            </a:r>
          </a:p>
        </p:txBody>
      </p:sp>
      <p:sp>
        <p:nvSpPr>
          <p:cNvPr id="5" name="Rounded Rectangle 4"/>
          <p:cNvSpPr/>
          <p:nvPr/>
        </p:nvSpPr>
        <p:spPr>
          <a:xfrm>
            <a:off x="10972800" y="411480"/>
            <a:ext cx="640080" cy="3200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t>06</a:t>
            </a:r>
          </a:p>
        </p:txBody>
      </p:sp>
      <p:sp>
        <p:nvSpPr>
          <p:cNvPr id="6" name="Rounded Rectangle 5"/>
          <p:cNvSpPr/>
          <p:nvPr/>
        </p:nvSpPr>
        <p:spPr>
          <a:xfrm>
            <a:off x="914400" y="1463040"/>
            <a:ext cx="4983480" cy="47548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defRPr>
            </a:pPr>
            <a:r>
              <a:t>TRADITIONAL / EXISTING SYSTEMS</a:t>
            </a:r>
          </a:p>
          <a:p>
            <a:pPr>
              <a:spcBef>
                <a:spcPts val="1000"/>
              </a:spcBef>
              <a:defRPr sz="1100">
                <a:solidFill>
                  <a:srgbClr val="CBD5E1"/>
                </a:solidFill>
              </a:defRPr>
            </a:pPr>
            <a:r>
              <a:t>✗  Unstructured WhatsApp &amp; Telegram Channels: Study materials are mixed with personal chats, prone to accidental deletion and dead drive links.</a:t>
            </a:r>
          </a:p>
          <a:p>
            <a:pPr>
              <a:spcBef>
                <a:spcPts val="1000"/>
              </a:spcBef>
              <a:defRPr sz="1100">
                <a:solidFill>
                  <a:srgbClr val="CBD5E1"/>
                </a:solidFill>
              </a:defRPr>
            </a:pPr>
            <a:r>
              <a:t>✗  Static Institutional Websites: Pure HTML pages maintained by outside vendors with no real-time update mechanism for professors.</a:t>
            </a:r>
          </a:p>
          <a:p>
            <a:pPr>
              <a:spcBef>
                <a:spcPts val="1000"/>
              </a:spcBef>
              <a:defRPr sz="1100">
                <a:solidFill>
                  <a:srgbClr val="CBD5E1"/>
                </a:solidFill>
              </a:defRPr>
            </a:pPr>
            <a:r>
              <a:t>✗  Manual Enquiry Desks: Physical queues for common inquiries regarding exam timetables, syllabus regulations, and past papers.</a:t>
            </a:r>
          </a:p>
          <a:p>
            <a:pPr>
              <a:spcBef>
                <a:spcPts val="1000"/>
              </a:spcBef>
              <a:defRPr sz="1100">
                <a:solidFill>
                  <a:srgbClr val="CBD5E1"/>
                </a:solidFill>
              </a:defRPr>
            </a:pPr>
            <a:r>
              <a:t>✗  Absence of Career Guidance: No structured visual roadmaps or skill gap identification linking academic syllabus to hiring jobs.</a:t>
            </a:r>
          </a:p>
        </p:txBody>
      </p:sp>
      <p:sp>
        <p:nvSpPr>
          <p:cNvPr id="7" name="Rounded Rectangle 6"/>
          <p:cNvSpPr/>
          <p:nvPr/>
        </p:nvSpPr>
        <p:spPr>
          <a:xfrm>
            <a:off x="6217920" y="1463040"/>
            <a:ext cx="5059375" cy="4754880"/>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8B5CF6"/>
                </a:solidFill>
              </a:defRPr>
            </a:pPr>
            <a:r>
              <a:t>CORE ARCHITECTURAL LIMITATIONS</a:t>
            </a:r>
          </a:p>
          <a:p>
            <a:pPr>
              <a:spcBef>
                <a:spcPts val="1000"/>
              </a:spcBef>
              <a:defRPr sz="1100">
                <a:solidFill>
                  <a:srgbClr val="CBD5E1"/>
                </a:solidFill>
              </a:defRPr>
            </a:pPr>
            <a:r>
              <a:t>⚠  Zero Real-Time Synchronization: Updating or removing obsolete files requires contacting webmasters and modifying static server files.</a:t>
            </a:r>
          </a:p>
          <a:p>
            <a:pPr>
              <a:spcBef>
                <a:spcPts val="1000"/>
              </a:spcBef>
              <a:defRPr sz="1100">
                <a:solidFill>
                  <a:srgbClr val="CBD5E1"/>
                </a:solidFill>
              </a:defRPr>
            </a:pPr>
            <a:r>
              <a:t>⚠  No Role-Based Authorization: Lack of distinct permissions allows unauthorized modifications or complete lack of faculty autonomy.</a:t>
            </a:r>
          </a:p>
          <a:p>
            <a:pPr>
              <a:spcBef>
                <a:spcPts val="1000"/>
              </a:spcBef>
              <a:defRPr sz="1100">
                <a:solidFill>
                  <a:srgbClr val="CBD5E1"/>
                </a:solidFill>
              </a:defRPr>
            </a:pPr>
            <a:r>
              <a:t>⚠  No Search Intelligence: Users must manually scroll through unindexed folders and poorly named PDFs.</a:t>
            </a:r>
          </a:p>
          <a:p>
            <a:pPr>
              <a:spcBef>
                <a:spcPts val="1000"/>
              </a:spcBef>
              <a:defRPr sz="1100">
                <a:solidFill>
                  <a:srgbClr val="CBD5E1"/>
                </a:solidFill>
              </a:defRPr>
            </a:pPr>
            <a:r>
              <a:t>⚠  No Interactive Career Visualization: Fails to help students transition from textbook theory to industrial tooling.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SOLUTION ARCHITECTURE</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FFFFF"/>
                </a:solidFill>
              </a:defRPr>
            </a:pPr>
            <a:r>
              <a:t>Slide 7 – Proposed System: Solution &amp; Key Features</a:t>
            </a:r>
          </a:p>
        </p:txBody>
      </p:sp>
      <p:sp>
        <p:nvSpPr>
          <p:cNvPr id="5" name="Rounded Rectangle 4"/>
          <p:cNvSpPr/>
          <p:nvPr/>
        </p:nvSpPr>
        <p:spPr>
          <a:xfrm>
            <a:off x="10972800" y="411480"/>
            <a:ext cx="640080" cy="3200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t>07</a:t>
            </a:r>
          </a:p>
        </p:txBody>
      </p:sp>
      <p:sp>
        <p:nvSpPr>
          <p:cNvPr id="6" name="Rounded Rectangle 5"/>
          <p:cNvSpPr/>
          <p:nvPr/>
        </p:nvSpPr>
        <p:spPr>
          <a:xfrm>
            <a:off x="914400" y="1463040"/>
            <a:ext cx="5029200" cy="22402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EA5E9"/>
                </a:solidFill>
              </a:defRPr>
            </a:pPr>
            <a:r>
              <a:t>PROPOSED SOLUTION</a:t>
            </a:r>
          </a:p>
          <a:p>
            <a:pPr>
              <a:spcBef>
                <a:spcPts val="400"/>
              </a:spcBef>
              <a:defRPr sz="1400" b="1">
                <a:solidFill>
                  <a:srgbClr val="FFFFFF"/>
                </a:solidFill>
              </a:defRPr>
            </a:pPr>
            <a:r>
              <a:t>A Unified Smart Department Hub</a:t>
            </a:r>
          </a:p>
          <a:p>
            <a:pPr>
              <a:spcBef>
                <a:spcPts val="600"/>
              </a:spcBef>
              <a:defRPr sz="1100">
                <a:solidFill>
                  <a:srgbClr val="CBD5E1"/>
                </a:solidFill>
              </a:defRPr>
            </a:pPr>
            <a:r>
              <a:t>A cloud-hosted platform consolidating academic resources, career flowcharts, previous question papers, and an AI conversational chatbot into an elegant single-page application.</a:t>
            </a:r>
          </a:p>
        </p:txBody>
      </p:sp>
      <p:sp>
        <p:nvSpPr>
          <p:cNvPr id="7" name="Rounded Rectangle 6"/>
          <p:cNvSpPr/>
          <p:nvPr/>
        </p:nvSpPr>
        <p:spPr>
          <a:xfrm>
            <a:off x="6217920" y="1463040"/>
            <a:ext cx="5029200" cy="2240280"/>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8B5CF6"/>
                </a:solidFill>
              </a:defRPr>
            </a:pPr>
            <a:r>
              <a:t>MAJOR FEATURES</a:t>
            </a:r>
          </a:p>
          <a:p>
            <a:pPr>
              <a:spcBef>
                <a:spcPts val="400"/>
              </a:spcBef>
              <a:defRPr sz="1400" b="1">
                <a:solidFill>
                  <a:srgbClr val="FFFFFF"/>
                </a:solidFill>
              </a:defRPr>
            </a:pPr>
            <a:r>
              <a:t>Interactive Roadmaps &amp; AI Chatbot</a:t>
            </a:r>
          </a:p>
          <a:p>
            <a:pPr>
              <a:spcBef>
                <a:spcPts val="600"/>
              </a:spcBef>
              <a:defRPr sz="1100">
                <a:solidFill>
                  <a:srgbClr val="CBD5E1"/>
                </a:solidFill>
              </a:defRPr>
            </a:pPr>
            <a:r>
              <a:t>Features 68+ department career roadmaps with interactive flowcharts, full dynamic CRUD (Create, Read, Update, Delete), in-app PDF preview, and Tamil/Tanglish/English conversational assistant.</a:t>
            </a:r>
          </a:p>
        </p:txBody>
      </p:sp>
      <p:sp>
        <p:nvSpPr>
          <p:cNvPr id="8" name="Rounded Rectangle 7"/>
          <p:cNvSpPr/>
          <p:nvPr/>
        </p:nvSpPr>
        <p:spPr>
          <a:xfrm>
            <a:off x="914400" y="3931920"/>
            <a:ext cx="5029200" cy="22402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10B981"/>
                </a:solidFill>
              </a:defRPr>
            </a:pPr>
            <a:r>
              <a:t>IMPROVEMENT OVER EXISTING</a:t>
            </a:r>
          </a:p>
          <a:p>
            <a:pPr>
              <a:spcBef>
                <a:spcPts val="400"/>
              </a:spcBef>
              <a:defRPr sz="1400" b="1">
                <a:solidFill>
                  <a:srgbClr val="FFFFFF"/>
                </a:solidFill>
              </a:defRPr>
            </a:pPr>
            <a:r>
              <a:t>Instant Sync &amp; Full CRUD Control</a:t>
            </a:r>
          </a:p>
          <a:p>
            <a:pPr>
              <a:spcBef>
                <a:spcPts val="600"/>
              </a:spcBef>
              <a:defRPr sz="1100">
                <a:solidFill>
                  <a:srgbClr val="CBD5E1"/>
                </a:solidFill>
              </a:defRPr>
            </a:pPr>
            <a:r>
              <a:t>Empowers faculty and admins to update, edit, and delete notes or links in real-time. Students enjoy sub-second live search and verified Anna University curriculum filtering.</a:t>
            </a:r>
          </a:p>
        </p:txBody>
      </p:sp>
      <p:sp>
        <p:nvSpPr>
          <p:cNvPr id="9" name="Rounded Rectangle 8"/>
          <p:cNvSpPr/>
          <p:nvPr/>
        </p:nvSpPr>
        <p:spPr>
          <a:xfrm>
            <a:off x="6217920" y="3931920"/>
            <a:ext cx="5029200" cy="22402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59E0B"/>
                </a:solidFill>
              </a:defRPr>
            </a:pPr>
            <a:r>
              <a:t>EXPECTED BENEFITS</a:t>
            </a:r>
          </a:p>
          <a:p>
            <a:pPr>
              <a:spcBef>
                <a:spcPts val="400"/>
              </a:spcBef>
              <a:defRPr sz="1400" b="1">
                <a:solidFill>
                  <a:srgbClr val="FFFFFF"/>
                </a:solidFill>
              </a:defRPr>
            </a:pPr>
            <a:r>
              <a:t>Academic Excellence &amp; Career Clarity</a:t>
            </a:r>
          </a:p>
          <a:p>
            <a:pPr>
              <a:spcBef>
                <a:spcPts val="600"/>
              </a:spcBef>
              <a:defRPr sz="1100">
                <a:solidFill>
                  <a:srgbClr val="CBD5E1"/>
                </a:solidFill>
              </a:defRPr>
            </a:pPr>
            <a:r>
              <a:t>Saves 90% resource discovery time, provides transparent industry role benchmarks, enhances exam preparation scores, and automates student support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TECHNOLOGY STACK</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FFFFF"/>
                </a:solidFill>
              </a:defRPr>
            </a:pPr>
            <a:r>
              <a:t>Slide 8 – Proposed Technology Stack</a:t>
            </a:r>
          </a:p>
        </p:txBody>
      </p:sp>
      <p:sp>
        <p:nvSpPr>
          <p:cNvPr id="5" name="Rounded Rectangle 4"/>
          <p:cNvSpPr/>
          <p:nvPr/>
        </p:nvSpPr>
        <p:spPr>
          <a:xfrm>
            <a:off x="10972800" y="411480"/>
            <a:ext cx="640080" cy="3200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t>08</a:t>
            </a:r>
          </a:p>
        </p:txBody>
      </p:sp>
      <p:sp>
        <p:nvSpPr>
          <p:cNvPr id="6" name="Rounded Rectangle 5"/>
          <p:cNvSpPr/>
          <p:nvPr/>
        </p:nvSpPr>
        <p:spPr>
          <a:xfrm>
            <a:off x="914400" y="1463040"/>
            <a:ext cx="2487168" cy="47548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EA5E9"/>
                </a:solidFill>
              </a:defRPr>
            </a:pPr>
            <a:r>
              <a:t>Frontend</a:t>
            </a:r>
          </a:p>
          <a:p>
            <a:pPr>
              <a:spcBef>
                <a:spcPts val="400"/>
              </a:spcBef>
              <a:defRPr sz="1050" b="1">
                <a:solidFill>
                  <a:srgbClr val="FFFFFF"/>
                </a:solidFill>
              </a:defRPr>
            </a:pPr>
            <a:r>
              <a:t>HTML5, CSS3, ES6+ JavaScript</a:t>
            </a:r>
          </a:p>
          <a:p>
            <a:pPr>
              <a:spcBef>
                <a:spcPts val="600"/>
              </a:spcBef>
              <a:defRPr sz="1000">
                <a:solidFill>
                  <a:srgbClr val="CBD5E1"/>
                </a:solidFill>
              </a:defRPr>
            </a:pPr>
            <a:r>
              <a:t>• Vanilla SPA component architecture (Zero build step)</a:t>
            </a:r>
          </a:p>
          <a:p>
            <a:pPr>
              <a:spcBef>
                <a:spcPts val="600"/>
              </a:spcBef>
              <a:defRPr sz="1000">
                <a:solidFill>
                  <a:srgbClr val="CBD5E1"/>
                </a:solidFill>
              </a:defRPr>
            </a:pPr>
            <a:r>
              <a:t>• Dynamic CSS design tokens (Dark / Light themes)</a:t>
            </a:r>
          </a:p>
          <a:p>
            <a:pPr>
              <a:spcBef>
                <a:spcPts val="600"/>
              </a:spcBef>
              <a:defRPr sz="1000">
                <a:solidFill>
                  <a:srgbClr val="CBD5E1"/>
                </a:solidFill>
              </a:defRPr>
            </a:pPr>
            <a:r>
              <a:t>• Integrated PDF reader &amp; visual flowchart engine</a:t>
            </a:r>
          </a:p>
          <a:p>
            <a:pPr>
              <a:spcBef>
                <a:spcPts val="600"/>
              </a:spcBef>
              <a:defRPr sz="1000">
                <a:solidFill>
                  <a:srgbClr val="CBD5E1"/>
                </a:solidFill>
              </a:defRPr>
            </a:pPr>
            <a:r>
              <a:t>• Speech synthesis (TTS) &amp; interactive prompt chips</a:t>
            </a:r>
          </a:p>
        </p:txBody>
      </p:sp>
      <p:sp>
        <p:nvSpPr>
          <p:cNvPr id="7" name="Rounded Rectangle 6"/>
          <p:cNvSpPr/>
          <p:nvPr/>
        </p:nvSpPr>
        <p:spPr>
          <a:xfrm>
            <a:off x="3547872" y="1463040"/>
            <a:ext cx="2487168" cy="4754880"/>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8B5CF6"/>
                </a:solidFill>
              </a:defRPr>
            </a:pPr>
            <a:r>
              <a:t>Backend</a:t>
            </a:r>
          </a:p>
          <a:p>
            <a:pPr>
              <a:spcBef>
                <a:spcPts val="400"/>
              </a:spcBef>
              <a:defRPr sz="1050" b="1">
                <a:solidFill>
                  <a:srgbClr val="FFFFFF"/>
                </a:solidFill>
              </a:defRPr>
            </a:pPr>
            <a:r>
              <a:t>Node.js &amp; Express.js REST API</a:t>
            </a:r>
          </a:p>
          <a:p>
            <a:pPr>
              <a:spcBef>
                <a:spcPts val="600"/>
              </a:spcBef>
              <a:defRPr sz="1000">
                <a:solidFill>
                  <a:srgbClr val="CBD5E1"/>
                </a:solidFill>
              </a:defRPr>
            </a:pPr>
            <a:r>
              <a:t>• Modular Express routing with MVC architecture</a:t>
            </a:r>
          </a:p>
          <a:p>
            <a:pPr>
              <a:spcBef>
                <a:spcPts val="600"/>
              </a:spcBef>
              <a:defRPr sz="1000">
                <a:solidFill>
                  <a:srgbClr val="CBD5E1"/>
                </a:solidFill>
              </a:defRPr>
            </a:pPr>
            <a:r>
              <a:t>• Socket.IO real-time channel for instant chat &amp; sync</a:t>
            </a:r>
          </a:p>
          <a:p>
            <a:pPr>
              <a:spcBef>
                <a:spcPts val="600"/>
              </a:spcBef>
              <a:defRPr sz="1000">
                <a:solidFill>
                  <a:srgbClr val="CBD5E1"/>
                </a:solidFill>
              </a:defRPr>
            </a:pPr>
            <a:r>
              <a:t>• JWT Authentication &amp; bcrypt 12-round password hashing</a:t>
            </a:r>
          </a:p>
          <a:p>
            <a:pPr>
              <a:spcBef>
                <a:spcPts val="600"/>
              </a:spcBef>
              <a:defRPr sz="1000">
                <a:solidFill>
                  <a:srgbClr val="CBD5E1"/>
                </a:solidFill>
              </a:defRPr>
            </a:pPr>
            <a:r>
              <a:t>• CORS &amp; Helmet security middleware protection</a:t>
            </a:r>
          </a:p>
        </p:txBody>
      </p:sp>
      <p:sp>
        <p:nvSpPr>
          <p:cNvPr id="8" name="Rounded Rectangle 7"/>
          <p:cNvSpPr/>
          <p:nvPr/>
        </p:nvSpPr>
        <p:spPr>
          <a:xfrm>
            <a:off x="6181344" y="1463040"/>
            <a:ext cx="2487168" cy="47548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0B981"/>
                </a:solidFill>
              </a:defRPr>
            </a:pPr>
            <a:r>
              <a:t>Database</a:t>
            </a:r>
          </a:p>
          <a:p>
            <a:pPr>
              <a:spcBef>
                <a:spcPts val="400"/>
              </a:spcBef>
              <a:defRPr sz="1050" b="1">
                <a:solidFill>
                  <a:srgbClr val="FFFFFF"/>
                </a:solidFill>
              </a:defRPr>
            </a:pPr>
            <a:r>
              <a:t>MongoDB Atlas Cloud Cluster</a:t>
            </a:r>
          </a:p>
          <a:p>
            <a:pPr>
              <a:spcBef>
                <a:spcPts val="600"/>
              </a:spcBef>
              <a:defRPr sz="1000">
                <a:solidFill>
                  <a:srgbClr val="CBD5E1"/>
                </a:solidFill>
              </a:defRPr>
            </a:pPr>
            <a:r>
              <a:t>• M0 Multi-region managed cloud cluster</a:t>
            </a:r>
          </a:p>
          <a:p>
            <a:pPr>
              <a:spcBef>
                <a:spcPts val="600"/>
              </a:spcBef>
              <a:defRPr sz="1000">
                <a:solidFill>
                  <a:srgbClr val="CBD5E1"/>
                </a:solidFill>
              </a:defRPr>
            </a:pPr>
            <a:r>
              <a:t>• Mongoose ODM with 12 normalized schemas</a:t>
            </a:r>
          </a:p>
          <a:p>
            <a:pPr>
              <a:spcBef>
                <a:spcPts val="600"/>
              </a:spcBef>
              <a:defRPr sz="1000">
                <a:solidFill>
                  <a:srgbClr val="CBD5E1"/>
                </a:solidFill>
              </a:defRPr>
            </a:pPr>
            <a:r>
              <a:t>• Compound indexing for sub-10ms queries</a:t>
            </a:r>
          </a:p>
          <a:p>
            <a:pPr>
              <a:spcBef>
                <a:spcPts val="600"/>
              </a:spcBef>
              <a:defRPr sz="1000">
                <a:solidFill>
                  <a:srgbClr val="CBD5E1"/>
                </a:solidFill>
              </a:defRPr>
            </a:pPr>
            <a:r>
              <a:t>• Resilient offline fallback cache architecture</a:t>
            </a:r>
          </a:p>
        </p:txBody>
      </p:sp>
      <p:sp>
        <p:nvSpPr>
          <p:cNvPr id="9" name="Rounded Rectangle 8"/>
          <p:cNvSpPr/>
          <p:nvPr/>
        </p:nvSpPr>
        <p:spPr>
          <a:xfrm>
            <a:off x="8814816" y="1463040"/>
            <a:ext cx="2487168" cy="47548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59E0B"/>
                </a:solidFill>
              </a:defRPr>
            </a:pPr>
            <a:r>
              <a:t>Development Tools</a:t>
            </a:r>
          </a:p>
          <a:p>
            <a:pPr>
              <a:spcBef>
                <a:spcPts val="400"/>
              </a:spcBef>
              <a:defRPr sz="1050" b="1">
                <a:solidFill>
                  <a:srgbClr val="FFFFFF"/>
                </a:solidFill>
              </a:defRPr>
            </a:pPr>
            <a:r>
              <a:t>Modern Tooling &amp; Cloud CI/CD</a:t>
            </a:r>
          </a:p>
          <a:p>
            <a:pPr>
              <a:spcBef>
                <a:spcPts val="600"/>
              </a:spcBef>
              <a:defRPr sz="1000">
                <a:solidFill>
                  <a:srgbClr val="CBD5E1"/>
                </a:solidFill>
              </a:defRPr>
            </a:pPr>
            <a:r>
              <a:t>• VS Code, Git, GitHub version control</a:t>
            </a:r>
          </a:p>
          <a:p>
            <a:pPr>
              <a:spcBef>
                <a:spcPts val="600"/>
              </a:spcBef>
              <a:defRPr sz="1000">
                <a:solidFill>
                  <a:srgbClr val="CBD5E1"/>
                </a:solidFill>
              </a:defRPr>
            </a:pPr>
            <a:r>
              <a:t>• Vercel Edge Cloud serverless deployment</a:t>
            </a:r>
          </a:p>
          <a:p>
            <a:pPr>
              <a:spcBef>
                <a:spcPts val="600"/>
              </a:spcBef>
              <a:defRPr sz="1000">
                <a:solidFill>
                  <a:srgbClr val="CBD5E1"/>
                </a:solidFill>
              </a:defRPr>
            </a:pPr>
            <a:r>
              <a:t>• Postman API testing suite</a:t>
            </a:r>
          </a:p>
          <a:p>
            <a:pPr>
              <a:spcBef>
                <a:spcPts val="600"/>
              </a:spcBef>
              <a:defRPr sz="1000">
                <a:solidFill>
                  <a:srgbClr val="CBD5E1"/>
                </a:solidFill>
              </a:defRPr>
            </a:pPr>
            <a:r>
              <a:t>• Mermaid.js &amp; CSS Flexbox/Grid flowcharts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MULTI-TIER SYSTEM ARCHITECTURE</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FFFFF"/>
                </a:solidFill>
              </a:defRPr>
            </a:pPr>
            <a:r>
              <a:t>Slide 9 – System Architecture (Client, Presentation, Application, Data, Admin)</a:t>
            </a:r>
          </a:p>
        </p:txBody>
      </p:sp>
      <p:sp>
        <p:nvSpPr>
          <p:cNvPr id="5" name="Rounded Rectangle 4"/>
          <p:cNvSpPr/>
          <p:nvPr/>
        </p:nvSpPr>
        <p:spPr>
          <a:xfrm>
            <a:off x="10972800" y="411480"/>
            <a:ext cx="640080" cy="3200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t>09</a:t>
            </a:r>
          </a:p>
        </p:txBody>
      </p:sp>
      <p:sp>
        <p:nvSpPr>
          <p:cNvPr id="6" name="Rounded Rectangle 5"/>
          <p:cNvSpPr/>
          <p:nvPr/>
        </p:nvSpPr>
        <p:spPr>
          <a:xfrm>
            <a:off x="731520" y="1371600"/>
            <a:ext cx="2011680" cy="621792"/>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Client Layer</a:t>
            </a:r>
          </a:p>
        </p:txBody>
      </p:sp>
      <p:sp>
        <p:nvSpPr>
          <p:cNvPr id="7" name="Rounded Rectangle 6"/>
          <p:cNvSpPr/>
          <p:nvPr/>
        </p:nvSpPr>
        <p:spPr>
          <a:xfrm>
            <a:off x="2926080" y="1371600"/>
            <a:ext cx="1572768" cy="621792"/>
          </a:xfrm>
          <a:prstGeom prst="roundRect">
            <a:avLst/>
          </a:prstGeom>
          <a:solidFill>
            <a:srgbClr val="0F172A"/>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Students</a:t>
            </a:r>
          </a:p>
        </p:txBody>
      </p:sp>
      <p:sp>
        <p:nvSpPr>
          <p:cNvPr id="8" name="Rounded Rectangle 7"/>
          <p:cNvSpPr/>
          <p:nvPr/>
        </p:nvSpPr>
        <p:spPr>
          <a:xfrm>
            <a:off x="4636008" y="1371600"/>
            <a:ext cx="1572768" cy="621792"/>
          </a:xfrm>
          <a:prstGeom prst="roundRect">
            <a:avLst/>
          </a:prstGeom>
          <a:solidFill>
            <a:srgbClr val="0F172A"/>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Faculty</a:t>
            </a:r>
          </a:p>
        </p:txBody>
      </p:sp>
      <p:sp>
        <p:nvSpPr>
          <p:cNvPr id="9" name="Rounded Rectangle 8"/>
          <p:cNvSpPr/>
          <p:nvPr/>
        </p:nvSpPr>
        <p:spPr>
          <a:xfrm>
            <a:off x="6345936" y="1371600"/>
            <a:ext cx="1572768" cy="621792"/>
          </a:xfrm>
          <a:prstGeom prst="roundRect">
            <a:avLst/>
          </a:prstGeom>
          <a:solidFill>
            <a:srgbClr val="0F172A"/>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Parents</a:t>
            </a:r>
          </a:p>
        </p:txBody>
      </p:sp>
      <p:sp>
        <p:nvSpPr>
          <p:cNvPr id="10" name="Rounded Rectangle 9"/>
          <p:cNvSpPr/>
          <p:nvPr/>
        </p:nvSpPr>
        <p:spPr>
          <a:xfrm>
            <a:off x="8055864" y="1371600"/>
            <a:ext cx="1572768" cy="621792"/>
          </a:xfrm>
          <a:prstGeom prst="roundRect">
            <a:avLst/>
          </a:prstGeom>
          <a:solidFill>
            <a:srgbClr val="0F172A"/>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Visitors</a:t>
            </a:r>
          </a:p>
        </p:txBody>
      </p:sp>
      <p:sp>
        <p:nvSpPr>
          <p:cNvPr id="11" name="Rounded Rectangle 10"/>
          <p:cNvSpPr/>
          <p:nvPr/>
        </p:nvSpPr>
        <p:spPr>
          <a:xfrm>
            <a:off x="9765792" y="1371600"/>
            <a:ext cx="1572768" cy="621792"/>
          </a:xfrm>
          <a:prstGeom prst="roundRect">
            <a:avLst/>
          </a:prstGeom>
          <a:solidFill>
            <a:srgbClr val="0F172A"/>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Prospective Students</a:t>
            </a:r>
          </a:p>
        </p:txBody>
      </p:sp>
      <p:sp>
        <p:nvSpPr>
          <p:cNvPr id="12" name="Rounded Rectangle 11"/>
          <p:cNvSpPr/>
          <p:nvPr/>
        </p:nvSpPr>
        <p:spPr>
          <a:xfrm>
            <a:off x="731520" y="2240280"/>
            <a:ext cx="2011680" cy="621792"/>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Presentation Layer</a:t>
            </a:r>
            <a:br/>
            <a:r>
              <a:t>(HTML, CSS, JS)</a:t>
            </a:r>
          </a:p>
        </p:txBody>
      </p:sp>
      <p:sp>
        <p:nvSpPr>
          <p:cNvPr id="13" name="Rounded Rectangle 12"/>
          <p:cNvSpPr/>
          <p:nvPr/>
        </p:nvSpPr>
        <p:spPr>
          <a:xfrm>
            <a:off x="2926080" y="2240280"/>
            <a:ext cx="2712720" cy="621792"/>
          </a:xfrm>
          <a:prstGeom prst="roundRect">
            <a:avLst/>
          </a:prstGeom>
          <a:solidFill>
            <a:srgbClr val="0F172A"/>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College Website</a:t>
            </a:r>
          </a:p>
        </p:txBody>
      </p:sp>
      <p:sp>
        <p:nvSpPr>
          <p:cNvPr id="14" name="Rounded Rectangle 13"/>
          <p:cNvSpPr/>
          <p:nvPr/>
        </p:nvSpPr>
        <p:spPr>
          <a:xfrm>
            <a:off x="5775960" y="2240280"/>
            <a:ext cx="2712720" cy="621792"/>
          </a:xfrm>
          <a:prstGeom prst="roundRect">
            <a:avLst/>
          </a:prstGeom>
          <a:solidFill>
            <a:srgbClr val="0F172A"/>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Chatbot Interface</a:t>
            </a:r>
          </a:p>
        </p:txBody>
      </p:sp>
      <p:sp>
        <p:nvSpPr>
          <p:cNvPr id="15" name="Rounded Rectangle 14"/>
          <p:cNvSpPr/>
          <p:nvPr/>
        </p:nvSpPr>
        <p:spPr>
          <a:xfrm>
            <a:off x="8625840" y="2240280"/>
            <a:ext cx="2712720" cy="621792"/>
          </a:xfrm>
          <a:prstGeom prst="roundRect">
            <a:avLst/>
          </a:prstGeom>
          <a:solidFill>
            <a:srgbClr val="0F172A"/>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Enquiry Interface</a:t>
            </a:r>
          </a:p>
        </p:txBody>
      </p:sp>
      <p:sp>
        <p:nvSpPr>
          <p:cNvPr id="16" name="Rounded Rectangle 15"/>
          <p:cNvSpPr/>
          <p:nvPr/>
        </p:nvSpPr>
        <p:spPr>
          <a:xfrm>
            <a:off x="731520" y="3108960"/>
            <a:ext cx="2011680" cy="621792"/>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Application Layer</a:t>
            </a:r>
            <a:br/>
            <a:r>
              <a:t>(Node.js / Express)</a:t>
            </a:r>
          </a:p>
        </p:txBody>
      </p:sp>
      <p:sp>
        <p:nvSpPr>
          <p:cNvPr id="17" name="Rounded Rectangle 16"/>
          <p:cNvSpPr/>
          <p:nvPr/>
        </p:nvSpPr>
        <p:spPr>
          <a:xfrm>
            <a:off x="2926080" y="3108960"/>
            <a:ext cx="1572768" cy="621792"/>
          </a:xfrm>
          <a:prstGeom prst="roundRect">
            <a:avLst/>
          </a:prstGeom>
          <a:solidFill>
            <a:srgbClr val="0F172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Request Handling</a:t>
            </a:r>
          </a:p>
        </p:txBody>
      </p:sp>
      <p:sp>
        <p:nvSpPr>
          <p:cNvPr id="18" name="Rounded Rectangle 17"/>
          <p:cNvSpPr/>
          <p:nvPr/>
        </p:nvSpPr>
        <p:spPr>
          <a:xfrm>
            <a:off x="4636008" y="3108960"/>
            <a:ext cx="1572768" cy="621792"/>
          </a:xfrm>
          <a:prstGeom prst="roundRect">
            <a:avLst/>
          </a:prstGeom>
          <a:solidFill>
            <a:srgbClr val="0F172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Chatbot Logic</a:t>
            </a:r>
          </a:p>
        </p:txBody>
      </p:sp>
      <p:sp>
        <p:nvSpPr>
          <p:cNvPr id="19" name="Rounded Rectangle 18"/>
          <p:cNvSpPr/>
          <p:nvPr/>
        </p:nvSpPr>
        <p:spPr>
          <a:xfrm>
            <a:off x="6345936" y="3108960"/>
            <a:ext cx="1572768" cy="621792"/>
          </a:xfrm>
          <a:prstGeom prst="roundRect">
            <a:avLst/>
          </a:prstGeom>
          <a:solidFill>
            <a:srgbClr val="0F172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Enquiry Processing</a:t>
            </a:r>
          </a:p>
        </p:txBody>
      </p:sp>
      <p:sp>
        <p:nvSpPr>
          <p:cNvPr id="20" name="Rounded Rectangle 19"/>
          <p:cNvSpPr/>
          <p:nvPr/>
        </p:nvSpPr>
        <p:spPr>
          <a:xfrm>
            <a:off x="8055864" y="3108960"/>
            <a:ext cx="1572768" cy="621792"/>
          </a:xfrm>
          <a:prstGeom prst="roundRect">
            <a:avLst/>
          </a:prstGeom>
          <a:solidFill>
            <a:srgbClr val="0F172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Event Management</a:t>
            </a:r>
          </a:p>
        </p:txBody>
      </p:sp>
      <p:sp>
        <p:nvSpPr>
          <p:cNvPr id="21" name="Rounded Rectangle 20"/>
          <p:cNvSpPr/>
          <p:nvPr/>
        </p:nvSpPr>
        <p:spPr>
          <a:xfrm>
            <a:off x="9765792" y="3108960"/>
            <a:ext cx="1572768" cy="621792"/>
          </a:xfrm>
          <a:prstGeom prst="roundRect">
            <a:avLst/>
          </a:prstGeom>
          <a:solidFill>
            <a:srgbClr val="0F172A"/>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Content Management</a:t>
            </a:r>
          </a:p>
        </p:txBody>
      </p:sp>
      <p:sp>
        <p:nvSpPr>
          <p:cNvPr id="22" name="Rounded Rectangle 21"/>
          <p:cNvSpPr/>
          <p:nvPr/>
        </p:nvSpPr>
        <p:spPr>
          <a:xfrm>
            <a:off x="731520" y="3977639"/>
            <a:ext cx="2011680" cy="621792"/>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Data Layer</a:t>
            </a:r>
            <a:br/>
            <a:r>
              <a:t>(MongoDB Atlas)</a:t>
            </a:r>
          </a:p>
        </p:txBody>
      </p:sp>
      <p:sp>
        <p:nvSpPr>
          <p:cNvPr id="23" name="Rounded Rectangle 22"/>
          <p:cNvSpPr/>
          <p:nvPr/>
        </p:nvSpPr>
        <p:spPr>
          <a:xfrm>
            <a:off x="2926080" y="3977639"/>
            <a:ext cx="2000250" cy="621792"/>
          </a:xfrm>
          <a:prstGeom prst="roundRect">
            <a:avLst/>
          </a:prstGeom>
          <a:solidFill>
            <a:srgbClr val="0F172A"/>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Student Enquiries</a:t>
            </a:r>
          </a:p>
        </p:txBody>
      </p:sp>
      <p:sp>
        <p:nvSpPr>
          <p:cNvPr id="24" name="Rounded Rectangle 23"/>
          <p:cNvSpPr/>
          <p:nvPr/>
        </p:nvSpPr>
        <p:spPr>
          <a:xfrm>
            <a:off x="5063490" y="3977639"/>
            <a:ext cx="2000250" cy="621792"/>
          </a:xfrm>
          <a:prstGeom prst="roundRect">
            <a:avLst/>
          </a:prstGeom>
          <a:solidFill>
            <a:srgbClr val="0F172A"/>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Events</a:t>
            </a:r>
          </a:p>
        </p:txBody>
      </p:sp>
      <p:sp>
        <p:nvSpPr>
          <p:cNvPr id="25" name="Rounded Rectangle 24"/>
          <p:cNvSpPr/>
          <p:nvPr/>
        </p:nvSpPr>
        <p:spPr>
          <a:xfrm>
            <a:off x="7200900" y="3977639"/>
            <a:ext cx="2000250" cy="621792"/>
          </a:xfrm>
          <a:prstGeom prst="roundRect">
            <a:avLst/>
          </a:prstGeom>
          <a:solidFill>
            <a:srgbClr val="0F172A"/>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Dept. Info</a:t>
            </a:r>
          </a:p>
        </p:txBody>
      </p:sp>
      <p:sp>
        <p:nvSpPr>
          <p:cNvPr id="26" name="Rounded Rectangle 25"/>
          <p:cNvSpPr/>
          <p:nvPr/>
        </p:nvSpPr>
        <p:spPr>
          <a:xfrm>
            <a:off x="9338310" y="3977639"/>
            <a:ext cx="2000250" cy="621792"/>
          </a:xfrm>
          <a:prstGeom prst="roundRect">
            <a:avLst/>
          </a:prstGeom>
          <a:solidFill>
            <a:srgbClr val="0F172A"/>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Gallery / Website Content</a:t>
            </a:r>
          </a:p>
        </p:txBody>
      </p:sp>
      <p:sp>
        <p:nvSpPr>
          <p:cNvPr id="27" name="Rounded Rectangle 26"/>
          <p:cNvSpPr/>
          <p:nvPr/>
        </p:nvSpPr>
        <p:spPr>
          <a:xfrm>
            <a:off x="731520" y="4846320"/>
            <a:ext cx="2011680" cy="621792"/>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Administration Layer</a:t>
            </a:r>
            <a:br/>
            <a:r>
              <a:t>(Admin Panel)</a:t>
            </a:r>
          </a:p>
        </p:txBody>
      </p:sp>
      <p:sp>
        <p:nvSpPr>
          <p:cNvPr id="28" name="Rounded Rectangle 27"/>
          <p:cNvSpPr/>
          <p:nvPr/>
        </p:nvSpPr>
        <p:spPr>
          <a:xfrm>
            <a:off x="2926080" y="4846320"/>
            <a:ext cx="2712720" cy="621792"/>
          </a:xfrm>
          <a:prstGeom prst="roundRect">
            <a:avLst/>
          </a:prstGeom>
          <a:solidFill>
            <a:srgbClr val="0F172A"/>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Query Management</a:t>
            </a:r>
          </a:p>
        </p:txBody>
      </p:sp>
      <p:sp>
        <p:nvSpPr>
          <p:cNvPr id="29" name="Rounded Rectangle 28"/>
          <p:cNvSpPr/>
          <p:nvPr/>
        </p:nvSpPr>
        <p:spPr>
          <a:xfrm>
            <a:off x="5775960" y="4846320"/>
            <a:ext cx="2712720" cy="621792"/>
          </a:xfrm>
          <a:prstGeom prst="roundRect">
            <a:avLst/>
          </a:prstGeom>
          <a:solidFill>
            <a:srgbClr val="0F172A"/>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Event Management</a:t>
            </a:r>
          </a:p>
        </p:txBody>
      </p:sp>
      <p:sp>
        <p:nvSpPr>
          <p:cNvPr id="30" name="Rounded Rectangle 29"/>
          <p:cNvSpPr/>
          <p:nvPr/>
        </p:nvSpPr>
        <p:spPr>
          <a:xfrm>
            <a:off x="8625840" y="4846320"/>
            <a:ext cx="2712720" cy="621792"/>
          </a:xfrm>
          <a:prstGeom prst="roundRect">
            <a:avLst/>
          </a:prstGeom>
          <a:solidFill>
            <a:srgbClr val="0F172A"/>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FFFFFF"/>
                </a:solidFill>
              </a:defRPr>
            </a:pPr>
            <a:r>
              <a:t>Content Management</a:t>
            </a:r>
          </a:p>
        </p:txBody>
      </p:sp>
      <p:sp>
        <p:nvSpPr>
          <p:cNvPr id="31" name="Rounded Rectangle 30"/>
          <p:cNvSpPr/>
          <p:nvPr/>
        </p:nvSpPr>
        <p:spPr>
          <a:xfrm>
            <a:off x="731520" y="5623560"/>
            <a:ext cx="10728655" cy="8229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EA5E9"/>
                </a:solidFill>
              </a:defRPr>
            </a:pPr>
            <a:r>
              <a:t>Core components and real-time channel:   Frontend (Browser)  ◄──[ Socket.IO / REST ]──►  Node.js / Express Backend  ◄──[ Mongoose ODM ]──►  MongoDB Atlas Cluster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SOFTWARE ENGINEERING DIAGRAMS</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FFFFF"/>
                </a:solidFill>
              </a:defRPr>
            </a:pPr>
            <a:r>
              <a:t>Slide 10 – System Design (Use Case, DFD, ER &amp; Sequence)</a:t>
            </a:r>
          </a:p>
        </p:txBody>
      </p:sp>
      <p:sp>
        <p:nvSpPr>
          <p:cNvPr id="5" name="Rounded Rectangle 4"/>
          <p:cNvSpPr/>
          <p:nvPr/>
        </p:nvSpPr>
        <p:spPr>
          <a:xfrm>
            <a:off x="10972800" y="411480"/>
            <a:ext cx="640080" cy="3200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t>10</a:t>
            </a:r>
          </a:p>
        </p:txBody>
      </p:sp>
      <p:sp>
        <p:nvSpPr>
          <p:cNvPr id="6" name="Rounded Rectangle 5"/>
          <p:cNvSpPr/>
          <p:nvPr/>
        </p:nvSpPr>
        <p:spPr>
          <a:xfrm>
            <a:off x="914400" y="1463040"/>
            <a:ext cx="5029200" cy="22402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EA5E9"/>
                </a:solidFill>
              </a:defRPr>
            </a:pPr>
            <a:r>
              <a:t>Use Case Diagram</a:t>
            </a:r>
          </a:p>
          <a:p>
            <a:pPr>
              <a:spcBef>
                <a:spcPts val="400"/>
              </a:spcBef>
              <a:defRPr sz="1050" b="1">
                <a:solidFill>
                  <a:srgbClr val="FFFFFF"/>
                </a:solidFill>
              </a:defRPr>
            </a:pPr>
            <a:r>
              <a:t>Actors &amp; Interactions</a:t>
            </a:r>
          </a:p>
          <a:p>
            <a:pPr>
              <a:spcBef>
                <a:spcPts val="400"/>
              </a:spcBef>
              <a:defRPr sz="950">
                <a:solidFill>
                  <a:srgbClr val="CBD5E1"/>
                </a:solidFill>
              </a:defRPr>
            </a:pPr>
            <a:r>
              <a:t>• Student Actor: Browse notes, view PYQs, query AI Chatbot, review career roadmaps.</a:t>
            </a:r>
          </a:p>
          <a:p>
            <a:pPr>
              <a:spcBef>
                <a:spcPts val="400"/>
              </a:spcBef>
              <a:defRPr sz="950">
                <a:solidFill>
                  <a:srgbClr val="CBD5E1"/>
                </a:solidFill>
              </a:defRPr>
            </a:pPr>
            <a:r>
              <a:t>• Faculty Actor: Upload lecture notes, update curriculum, add reference materials.</a:t>
            </a:r>
          </a:p>
          <a:p>
            <a:pPr>
              <a:spcBef>
                <a:spcPts val="400"/>
              </a:spcBef>
              <a:defRPr sz="950">
                <a:solidFill>
                  <a:srgbClr val="CBD5E1"/>
                </a:solidFill>
              </a:defRPr>
            </a:pPr>
            <a:r>
              <a:t>• Admin Actor: Perform dynamic CRUD (Create, Read, Update, Delete) on subjects &amp; roles.</a:t>
            </a:r>
          </a:p>
        </p:txBody>
      </p:sp>
      <p:sp>
        <p:nvSpPr>
          <p:cNvPr id="7" name="Rounded Rectangle 6"/>
          <p:cNvSpPr/>
          <p:nvPr/>
        </p:nvSpPr>
        <p:spPr>
          <a:xfrm>
            <a:off x="6217920" y="1463040"/>
            <a:ext cx="5029200" cy="2240280"/>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8B5CF6"/>
                </a:solidFill>
              </a:defRPr>
            </a:pPr>
            <a:r>
              <a:t>Data Flow Diagram (DFD)</a:t>
            </a:r>
          </a:p>
          <a:p>
            <a:pPr>
              <a:spcBef>
                <a:spcPts val="400"/>
              </a:spcBef>
              <a:defRPr sz="1050" b="1">
                <a:solidFill>
                  <a:srgbClr val="FFFFFF"/>
                </a:solidFill>
              </a:defRPr>
            </a:pPr>
            <a:r>
              <a:t>Level 0 &amp; Level 1 Flow</a:t>
            </a:r>
          </a:p>
          <a:p>
            <a:pPr>
              <a:spcBef>
                <a:spcPts val="400"/>
              </a:spcBef>
              <a:defRPr sz="950">
                <a:solidFill>
                  <a:srgbClr val="CBD5E1"/>
                </a:solidFill>
              </a:defRPr>
            </a:pPr>
            <a:r>
              <a:t>• Level 0 Context: User / Admin ⇄ System Boundary ⇄ Database Storage.</a:t>
            </a:r>
          </a:p>
          <a:p>
            <a:pPr>
              <a:spcBef>
                <a:spcPts val="400"/>
              </a:spcBef>
              <a:defRPr sz="950">
                <a:solidFill>
                  <a:srgbClr val="CBD5E1"/>
                </a:solidFill>
              </a:defRPr>
            </a:pPr>
            <a:r>
              <a:t>• Level 1 Decomposition: Process 1.0 (Auth) ➔ Process 2.0 (Resource Query) ➔ Process 3.0 (Chatbot NLP) ➔ Process 4.0 (Admin CRUD Management).</a:t>
            </a:r>
          </a:p>
        </p:txBody>
      </p:sp>
      <p:sp>
        <p:nvSpPr>
          <p:cNvPr id="8" name="Rounded Rectangle 7"/>
          <p:cNvSpPr/>
          <p:nvPr/>
        </p:nvSpPr>
        <p:spPr>
          <a:xfrm>
            <a:off x="914400" y="3931920"/>
            <a:ext cx="5029200" cy="22402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B981"/>
                </a:solidFill>
              </a:defRPr>
            </a:pPr>
            <a:r>
              <a:t>Entity Relationship (ER)</a:t>
            </a:r>
          </a:p>
          <a:p>
            <a:pPr>
              <a:spcBef>
                <a:spcPts val="400"/>
              </a:spcBef>
              <a:defRPr sz="1050" b="1">
                <a:solidFill>
                  <a:srgbClr val="FFFFFF"/>
                </a:solidFill>
              </a:defRPr>
            </a:pPr>
            <a:r>
              <a:t>Normalized Schemas</a:t>
            </a:r>
          </a:p>
          <a:p>
            <a:pPr>
              <a:spcBef>
                <a:spcPts val="400"/>
              </a:spcBef>
              <a:defRPr sz="950">
                <a:solidFill>
                  <a:srgbClr val="CBD5E1"/>
                </a:solidFill>
              </a:defRPr>
            </a:pPr>
            <a:r>
              <a:t>• Entities: Department, Regulation, Semester, Subject, Resource (Notes/PYQs), User, JobRole, Roadmap, Certification.</a:t>
            </a:r>
          </a:p>
          <a:p>
            <a:pPr>
              <a:spcBef>
                <a:spcPts val="400"/>
              </a:spcBef>
              <a:defRPr sz="950">
                <a:solidFill>
                  <a:srgbClr val="CBD5E1"/>
                </a:solidFill>
              </a:defRPr>
            </a:pPr>
            <a:r>
              <a:t>• Key Relationships: 1-to-N (Department to Subjects), 1-to-N (Subject to Unit Notes).</a:t>
            </a:r>
          </a:p>
        </p:txBody>
      </p:sp>
      <p:sp>
        <p:nvSpPr>
          <p:cNvPr id="9" name="Rounded Rectangle 8"/>
          <p:cNvSpPr/>
          <p:nvPr/>
        </p:nvSpPr>
        <p:spPr>
          <a:xfrm>
            <a:off x="6217920" y="3931920"/>
            <a:ext cx="5029200" cy="22402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Sequence Diagram</a:t>
            </a:r>
          </a:p>
          <a:p>
            <a:pPr>
              <a:spcBef>
                <a:spcPts val="400"/>
              </a:spcBef>
              <a:defRPr sz="1050" b="1">
                <a:solidFill>
                  <a:srgbClr val="FFFFFF"/>
                </a:solidFill>
              </a:defRPr>
            </a:pPr>
            <a:r>
              <a:t>Runtime Interaction</a:t>
            </a:r>
          </a:p>
          <a:p>
            <a:pPr>
              <a:spcBef>
                <a:spcPts val="400"/>
              </a:spcBef>
              <a:defRPr sz="950">
                <a:solidFill>
                  <a:srgbClr val="CBD5E1"/>
                </a:solidFill>
              </a:defRPr>
            </a:pPr>
            <a:r>
              <a:t>• Client sends HTTPS request / Socket message to Express API Controller.</a:t>
            </a:r>
          </a:p>
          <a:p>
            <a:pPr>
              <a:spcBef>
                <a:spcPts val="400"/>
              </a:spcBef>
              <a:defRPr sz="950">
                <a:solidFill>
                  <a:srgbClr val="CBD5E1"/>
                </a:solidFill>
              </a:defRPr>
            </a:pPr>
            <a:r>
              <a:t>• Controller validates JWT claims ➔ queries MongoDB Atlas via Mongoose ➔ returns sanitized JSON payload with sub-20ms latency.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MODULAR DECOMPOSITION</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FFFFF"/>
                </a:solidFill>
              </a:defRPr>
            </a:pPr>
            <a:r>
              <a:t>Slide 11 – Module Description &amp; Dynamic CRUD Operations</a:t>
            </a:r>
          </a:p>
        </p:txBody>
      </p:sp>
      <p:sp>
        <p:nvSpPr>
          <p:cNvPr id="5" name="Rounded Rectangle 4"/>
          <p:cNvSpPr/>
          <p:nvPr/>
        </p:nvSpPr>
        <p:spPr>
          <a:xfrm>
            <a:off x="10972800" y="411480"/>
            <a:ext cx="640080" cy="3200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t>11</a:t>
            </a:r>
          </a:p>
        </p:txBody>
      </p:sp>
      <p:sp>
        <p:nvSpPr>
          <p:cNvPr id="6" name="Rounded Rectangle 5"/>
          <p:cNvSpPr/>
          <p:nvPr/>
        </p:nvSpPr>
        <p:spPr>
          <a:xfrm>
            <a:off x="731520" y="1463040"/>
            <a:ext cx="2066543" cy="47548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EA5E9"/>
                </a:solidFill>
              </a:defRPr>
            </a:pPr>
            <a:r>
              <a:t>M1</a:t>
            </a:r>
          </a:p>
          <a:p>
            <a:pPr>
              <a:spcBef>
                <a:spcPts val="400"/>
              </a:spcBef>
              <a:defRPr sz="1300" b="1">
                <a:solidFill>
                  <a:srgbClr val="FFFFFF"/>
                </a:solidFill>
              </a:defRPr>
            </a:pPr>
            <a:r>
              <a:t>User Management &amp; RBAC</a:t>
            </a:r>
          </a:p>
          <a:p>
            <a:pPr>
              <a:spcBef>
                <a:spcPts val="200"/>
              </a:spcBef>
              <a:defRPr sz="1000">
                <a:solidFill>
                  <a:srgbClr val="0EA5E9"/>
                </a:solidFill>
              </a:defRPr>
            </a:pPr>
            <a:r>
              <a:t>Authentication &amp; Security</a:t>
            </a:r>
          </a:p>
          <a:p>
            <a:pPr>
              <a:spcBef>
                <a:spcPts val="800"/>
              </a:spcBef>
              <a:defRPr sz="950">
                <a:solidFill>
                  <a:srgbClr val="CBD5E1"/>
                </a:solidFill>
              </a:defRPr>
            </a:pPr>
            <a:r>
              <a:t>JWT authentication with bcrypt 12-round hashing. Tiered access control: Student (read-only), Faculty (content upload), and Admin (full system access).</a:t>
            </a:r>
          </a:p>
        </p:txBody>
      </p:sp>
      <p:sp>
        <p:nvSpPr>
          <p:cNvPr id="7" name="Rounded Rectangle 6"/>
          <p:cNvSpPr/>
          <p:nvPr/>
        </p:nvSpPr>
        <p:spPr>
          <a:xfrm>
            <a:off x="2907791" y="1463040"/>
            <a:ext cx="2066543" cy="4754880"/>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8B5CF6"/>
                </a:solidFill>
              </a:defRPr>
            </a:pPr>
            <a:r>
              <a:t>M2</a:t>
            </a:r>
          </a:p>
          <a:p>
            <a:pPr>
              <a:spcBef>
                <a:spcPts val="400"/>
              </a:spcBef>
              <a:defRPr sz="1300" b="1">
                <a:solidFill>
                  <a:srgbClr val="FFFFFF"/>
                </a:solidFill>
              </a:defRPr>
            </a:pPr>
            <a:r>
              <a:t>AI Chatbot Engine</a:t>
            </a:r>
          </a:p>
          <a:p>
            <a:pPr>
              <a:spcBef>
                <a:spcPts val="200"/>
              </a:spcBef>
              <a:defRPr sz="1000">
                <a:solidFill>
                  <a:srgbClr val="0EA5E9"/>
                </a:solidFill>
              </a:defRPr>
            </a:pPr>
            <a:r>
              <a:t>Multi-Lingual Assistant</a:t>
            </a:r>
          </a:p>
          <a:p>
            <a:pPr>
              <a:spcBef>
                <a:spcPts val="800"/>
              </a:spcBef>
              <a:defRPr sz="950">
                <a:solidFill>
                  <a:srgbClr val="CBD5E1"/>
                </a:solidFill>
              </a:defRPr>
            </a:pPr>
            <a:r>
              <a:t>Interactive assistant supporting English, Tamil, and Tanglish. Offers quick action chips, voice readout (TTS), instant subject suggestions, and direct 1-click portal navigation.</a:t>
            </a:r>
          </a:p>
        </p:txBody>
      </p:sp>
      <p:sp>
        <p:nvSpPr>
          <p:cNvPr id="8" name="Rounded Rectangle 7"/>
          <p:cNvSpPr/>
          <p:nvPr/>
        </p:nvSpPr>
        <p:spPr>
          <a:xfrm>
            <a:off x="5084064" y="1463040"/>
            <a:ext cx="2066543" cy="47548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defRPr>
            </a:pPr>
            <a:r>
              <a:t>M3</a:t>
            </a:r>
          </a:p>
          <a:p>
            <a:pPr>
              <a:spcBef>
                <a:spcPts val="400"/>
              </a:spcBef>
              <a:defRPr sz="1300" b="1">
                <a:solidFill>
                  <a:srgbClr val="FFFFFF"/>
                </a:solidFill>
              </a:defRPr>
            </a:pPr>
            <a:r>
              <a:t>Academic Resource Hub</a:t>
            </a:r>
          </a:p>
          <a:p>
            <a:pPr>
              <a:spcBef>
                <a:spcPts val="200"/>
              </a:spcBef>
              <a:defRPr sz="1000">
                <a:solidFill>
                  <a:srgbClr val="0EA5E9"/>
                </a:solidFill>
              </a:defRPr>
            </a:pPr>
            <a:r>
              <a:t>Notes, PYQs &amp; PDF Reader</a:t>
            </a:r>
          </a:p>
          <a:p>
            <a:pPr>
              <a:spcBef>
                <a:spcPts val="800"/>
              </a:spcBef>
              <a:defRPr sz="950">
                <a:solidFill>
                  <a:srgbClr val="CBD5E1"/>
                </a:solidFill>
              </a:defRPr>
            </a:pPr>
            <a:r>
              <a:t>Hierarchical structure (Regulation ➔ Dept ➔ Semester ➔ Subject ➔ Unit 1–5). Features in-app PDF canvas previewer, live debounced search, and university exam archives.</a:t>
            </a:r>
          </a:p>
        </p:txBody>
      </p:sp>
      <p:sp>
        <p:nvSpPr>
          <p:cNvPr id="9" name="Rounded Rectangle 8"/>
          <p:cNvSpPr/>
          <p:nvPr/>
        </p:nvSpPr>
        <p:spPr>
          <a:xfrm>
            <a:off x="7260336" y="1463040"/>
            <a:ext cx="2066543" cy="47548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59E0B"/>
                </a:solidFill>
              </a:defRPr>
            </a:pPr>
            <a:r>
              <a:t>M4</a:t>
            </a:r>
          </a:p>
          <a:p>
            <a:pPr>
              <a:spcBef>
                <a:spcPts val="400"/>
              </a:spcBef>
              <a:defRPr sz="1300" b="1">
                <a:solidFill>
                  <a:srgbClr val="FFFFFF"/>
                </a:solidFill>
              </a:defRPr>
            </a:pPr>
            <a:r>
              <a:t>Career Flowchart Roadmaps</a:t>
            </a:r>
          </a:p>
          <a:p>
            <a:pPr>
              <a:spcBef>
                <a:spcPts val="200"/>
              </a:spcBef>
              <a:defRPr sz="1000">
                <a:solidFill>
                  <a:srgbClr val="0EA5E9"/>
                </a:solidFill>
              </a:defRPr>
            </a:pPr>
            <a:r>
              <a:t>Interactive Visual Pathways</a:t>
            </a:r>
          </a:p>
          <a:p>
            <a:pPr>
              <a:spcBef>
                <a:spcPts val="800"/>
              </a:spcBef>
              <a:defRPr sz="950">
                <a:solidFill>
                  <a:srgbClr val="CBD5E1"/>
                </a:solidFill>
              </a:defRPr>
            </a:pPr>
            <a:r>
              <a:t>68+ department-tailored job role roadmaps with progressive milestones, hands-on capstone project ideas, and interactive department skill-gap analysis.</a:t>
            </a:r>
          </a:p>
        </p:txBody>
      </p:sp>
      <p:sp>
        <p:nvSpPr>
          <p:cNvPr id="10" name="Rounded Rectangle 9"/>
          <p:cNvSpPr/>
          <p:nvPr/>
        </p:nvSpPr>
        <p:spPr>
          <a:xfrm>
            <a:off x="9436608" y="1463040"/>
            <a:ext cx="2066543" cy="475488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EF4444"/>
                </a:solidFill>
              </a:defRPr>
            </a:pPr>
            <a:r>
              <a:t>M5</a:t>
            </a:r>
          </a:p>
          <a:p>
            <a:pPr>
              <a:spcBef>
                <a:spcPts val="400"/>
              </a:spcBef>
              <a:defRPr sz="1300" b="1">
                <a:solidFill>
                  <a:srgbClr val="FFFFFF"/>
                </a:solidFill>
              </a:defRPr>
            </a:pPr>
            <a:r>
              <a:t>Admin Dynamic CRUD System</a:t>
            </a:r>
          </a:p>
          <a:p>
            <a:pPr>
              <a:spcBef>
                <a:spcPts val="200"/>
              </a:spcBef>
              <a:defRPr sz="1000">
                <a:solidFill>
                  <a:srgbClr val="0EA5E9"/>
                </a:solidFill>
              </a:defRPr>
            </a:pPr>
            <a:r>
              <a:t>Full Create, Read, Update, Delete</a:t>
            </a:r>
          </a:p>
          <a:p>
            <a:pPr>
              <a:spcBef>
                <a:spcPts val="800"/>
              </a:spcBef>
              <a:defRPr sz="950">
                <a:solidFill>
                  <a:srgbClr val="CBD5E1"/>
                </a:solidFill>
              </a:defRPr>
            </a:pPr>
            <a:r>
              <a:t>Equipped with live Edit &amp; Update modals, safe Delete with confirmation triggers, and instantaneous MongoDB sync to guarantee resources are never obsolete.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SYSTEM DEMONSTRATION</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FFFFF"/>
                </a:solidFill>
              </a:defRPr>
            </a:pPr>
            <a:r>
              <a:t>Slide 12 – Live Demo / Screenshots</a:t>
            </a:r>
          </a:p>
        </p:txBody>
      </p:sp>
      <p:sp>
        <p:nvSpPr>
          <p:cNvPr id="5" name="Rounded Rectangle 4"/>
          <p:cNvSpPr/>
          <p:nvPr/>
        </p:nvSpPr>
        <p:spPr>
          <a:xfrm>
            <a:off x="10972800" y="411480"/>
            <a:ext cx="640080" cy="3200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t>12</a:t>
            </a:r>
          </a:p>
        </p:txBody>
      </p:sp>
      <p:sp>
        <p:nvSpPr>
          <p:cNvPr id="6" name="Rounded Rectangle 5"/>
          <p:cNvSpPr/>
          <p:nvPr/>
        </p:nvSpPr>
        <p:spPr>
          <a:xfrm>
            <a:off x="914400" y="1463040"/>
            <a:ext cx="5029200" cy="22402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EA5E9"/>
                </a:solidFill>
              </a:defRPr>
            </a:pPr>
            <a:r>
              <a:t>Screen 1: Department &amp; Resource Portal</a:t>
            </a:r>
          </a:p>
          <a:p>
            <a:pPr>
              <a:spcBef>
                <a:spcPts val="800"/>
              </a:spcBef>
              <a:defRPr sz="1100">
                <a:solidFill>
                  <a:srgbClr val="CBD5E1"/>
                </a:solidFill>
              </a:defRPr>
            </a:pPr>
            <a:r>
              <a:t>Interactive grid displaying Anna University regulations (R2021/R2025), core engineering branches, unit-wise notes, and embedded PDF preview reader.</a:t>
            </a:r>
          </a:p>
          <a:p>
            <a:pPr>
              <a:spcBef>
                <a:spcPts val="1000"/>
              </a:spcBef>
              <a:defRPr sz="1000" b="1">
                <a:solidFill>
                  <a:srgbClr val="FFFFFF"/>
                </a:solidFill>
              </a:defRPr>
            </a:pPr>
            <a:r>
              <a:t>✓ Live &amp; Fully Operational in Web App</a:t>
            </a:r>
          </a:p>
        </p:txBody>
      </p:sp>
      <p:sp>
        <p:nvSpPr>
          <p:cNvPr id="7" name="Rounded Rectangle 6"/>
          <p:cNvSpPr/>
          <p:nvPr/>
        </p:nvSpPr>
        <p:spPr>
          <a:xfrm>
            <a:off x="6217920" y="1463040"/>
            <a:ext cx="5029200" cy="2240280"/>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8B5CF6"/>
                </a:solidFill>
              </a:defRPr>
            </a:pPr>
            <a:r>
              <a:t>Screen 2: AI Academic Assistant Chatbot</a:t>
            </a:r>
          </a:p>
          <a:p>
            <a:pPr>
              <a:spcBef>
                <a:spcPts val="800"/>
              </a:spcBef>
              <a:defRPr sz="1100">
                <a:solidFill>
                  <a:srgbClr val="CBD5E1"/>
                </a:solidFill>
              </a:defRPr>
            </a:pPr>
            <a:r>
              <a:t>Floating conversational widget supporting Tamil/English queries, quick prompt chips, voice audio readout, and instant deep links to subject notes.</a:t>
            </a:r>
          </a:p>
          <a:p>
            <a:pPr>
              <a:spcBef>
                <a:spcPts val="1000"/>
              </a:spcBef>
              <a:defRPr sz="1000" b="1">
                <a:solidFill>
                  <a:srgbClr val="FFFFFF"/>
                </a:solidFill>
              </a:defRPr>
            </a:pPr>
            <a:r>
              <a:t>✓ Live &amp; Fully Operational in Web App</a:t>
            </a:r>
          </a:p>
        </p:txBody>
      </p:sp>
      <p:sp>
        <p:nvSpPr>
          <p:cNvPr id="8" name="Rounded Rectangle 7"/>
          <p:cNvSpPr/>
          <p:nvPr/>
        </p:nvSpPr>
        <p:spPr>
          <a:xfrm>
            <a:off x="914400" y="3931920"/>
            <a:ext cx="5029200" cy="22402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B981"/>
                </a:solidFill>
              </a:defRPr>
            </a:pPr>
            <a:r>
              <a:t>Screen 3: Visual Career Roadmap Flowchart</a:t>
            </a:r>
          </a:p>
          <a:p>
            <a:pPr>
              <a:spcBef>
                <a:spcPts val="800"/>
              </a:spcBef>
              <a:defRPr sz="1100">
                <a:solidFill>
                  <a:srgbClr val="CBD5E1"/>
                </a:solidFill>
              </a:defRPr>
            </a:pPr>
            <a:r>
              <a:t>Multi-stage career flowchart displaying Beginner to Advanced milestones, skill requirements, and capstone project blueprints.</a:t>
            </a:r>
          </a:p>
          <a:p>
            <a:pPr>
              <a:spcBef>
                <a:spcPts val="1000"/>
              </a:spcBef>
              <a:defRPr sz="1000" b="1">
                <a:solidFill>
                  <a:srgbClr val="FFFFFF"/>
                </a:solidFill>
              </a:defRPr>
            </a:pPr>
            <a:r>
              <a:t>✓ Live &amp; Fully Operational in Web App</a:t>
            </a:r>
          </a:p>
        </p:txBody>
      </p:sp>
      <p:sp>
        <p:nvSpPr>
          <p:cNvPr id="9" name="Rounded Rectangle 8"/>
          <p:cNvSpPr/>
          <p:nvPr/>
        </p:nvSpPr>
        <p:spPr>
          <a:xfrm>
            <a:off x="6217920" y="3931920"/>
            <a:ext cx="5029200" cy="22402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Screen 4: Admin CRUD Management Panel</a:t>
            </a:r>
          </a:p>
          <a:p>
            <a:pPr>
              <a:spcBef>
                <a:spcPts val="800"/>
              </a:spcBef>
              <a:defRPr sz="1100">
                <a:solidFill>
                  <a:srgbClr val="CBD5E1"/>
                </a:solidFill>
              </a:defRPr>
            </a:pPr>
            <a:r>
              <a:t>Real-time administrative dashboard demonstrating Add, Edit (Update), and Delete operations for notes, question papers, and roadmaps.</a:t>
            </a:r>
          </a:p>
          <a:p>
            <a:pPr>
              <a:spcBef>
                <a:spcPts val="1000"/>
              </a:spcBef>
              <a:defRPr sz="1000" b="1">
                <a:solidFill>
                  <a:srgbClr val="FFFFFF"/>
                </a:solidFill>
              </a:defRPr>
            </a:pPr>
            <a:r>
              <a:t>✓ Live &amp; Fully Operational in Web App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CONCLUSION &amp; FUTURE SCOPE</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FFFFF"/>
                </a:solidFill>
              </a:defRPr>
            </a:pPr>
            <a:r>
              <a:t>Slide 13 – Conclusion and Future Enhancement (IEEE / Standard Format)</a:t>
            </a:r>
          </a:p>
        </p:txBody>
      </p:sp>
      <p:sp>
        <p:nvSpPr>
          <p:cNvPr id="5" name="Rounded Rectangle 4"/>
          <p:cNvSpPr/>
          <p:nvPr/>
        </p:nvSpPr>
        <p:spPr>
          <a:xfrm>
            <a:off x="10972800" y="411480"/>
            <a:ext cx="640080" cy="3200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t>13</a:t>
            </a:r>
          </a:p>
        </p:txBody>
      </p:sp>
      <p:sp>
        <p:nvSpPr>
          <p:cNvPr id="6" name="Rounded Rectangle 5"/>
          <p:cNvSpPr/>
          <p:nvPr/>
        </p:nvSpPr>
        <p:spPr>
          <a:xfrm>
            <a:off x="914400" y="1463040"/>
            <a:ext cx="4983480" cy="47548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B981"/>
                </a:solidFill>
              </a:defRPr>
            </a:pPr>
            <a:r>
              <a:t>CONCLUSION</a:t>
            </a:r>
          </a:p>
          <a:p>
            <a:pPr>
              <a:spcBef>
                <a:spcPts val="800"/>
              </a:spcBef>
              <a:defRPr sz="1050">
                <a:solidFill>
                  <a:srgbClr val="CBD5E1"/>
                </a:solidFill>
              </a:defRPr>
            </a:pPr>
            <a:r>
              <a:t>•  Modern Academic Consolidation: The Department Resource Management System eliminates fragmented study material distribution across Anna University engineering colleges.</a:t>
            </a:r>
          </a:p>
          <a:p>
            <a:pPr>
              <a:spcBef>
                <a:spcPts val="800"/>
              </a:spcBef>
              <a:defRPr sz="1050">
                <a:solidFill>
                  <a:srgbClr val="CBD5E1"/>
                </a:solidFill>
              </a:defRPr>
            </a:pPr>
            <a:r>
              <a:t>•  Equipping Students with Industry Skills: Bridges classroom theory with 68+ practical career pathways, interactive flowcharts, and personalized skill gap analysis.</a:t>
            </a:r>
          </a:p>
          <a:p>
            <a:pPr>
              <a:spcBef>
                <a:spcPts val="800"/>
              </a:spcBef>
              <a:defRPr sz="1050">
                <a:solidFill>
                  <a:srgbClr val="CBD5E1"/>
                </a:solidFill>
              </a:defRPr>
            </a:pPr>
            <a:r>
              <a:t>•  Seamless Administrative Control: Dynamic CRUD features (Create, Read, Update, Delete) allow faculty to keep content accurate without server recompilation.</a:t>
            </a:r>
          </a:p>
          <a:p>
            <a:pPr>
              <a:spcBef>
                <a:spcPts val="800"/>
              </a:spcBef>
              <a:defRPr sz="1050">
                <a:solidFill>
                  <a:srgbClr val="CBD5E1"/>
                </a:solidFill>
              </a:defRPr>
            </a:pPr>
            <a:r>
              <a:t>•  Production-Grade Security: Role-Based Access Control and cloud-hosted MongoDB Atlas guarantee high throughput and zero data loss.</a:t>
            </a:r>
          </a:p>
        </p:txBody>
      </p:sp>
      <p:sp>
        <p:nvSpPr>
          <p:cNvPr id="7" name="Rounded Rectangle 6"/>
          <p:cNvSpPr/>
          <p:nvPr/>
        </p:nvSpPr>
        <p:spPr>
          <a:xfrm>
            <a:off x="6217920" y="1463040"/>
            <a:ext cx="5059375" cy="4754880"/>
          </a:xfrm>
          <a:prstGeom prst="roundRect">
            <a:avLst/>
          </a:prstGeom>
          <a:solidFill>
            <a:srgbClr val="1E293B"/>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8B5CF6"/>
                </a:solidFill>
              </a:defRPr>
            </a:pPr>
            <a:r>
              <a:t>FUTURE ENHANCEMENT (IEEE SCOPE)</a:t>
            </a:r>
          </a:p>
          <a:p>
            <a:pPr>
              <a:spcBef>
                <a:spcPts val="800"/>
              </a:spcBef>
              <a:defRPr sz="1050">
                <a:solidFill>
                  <a:srgbClr val="CBD5E1"/>
                </a:solidFill>
              </a:defRPr>
            </a:pPr>
            <a:r>
              <a:t>•  AI Question Paper Trend Prediction: Fine-tune transformer models to predict recurring high-weightage topics and Bloom's taxonomy distribution.</a:t>
            </a:r>
          </a:p>
          <a:p>
            <a:pPr>
              <a:spcBef>
                <a:spcPts val="800"/>
              </a:spcBef>
              <a:defRPr sz="1050">
                <a:solidFill>
                  <a:srgbClr val="CBD5E1"/>
                </a:solidFill>
              </a:defRPr>
            </a:pPr>
            <a:r>
              <a:t>•  In-Browser WebAssembly Code Sandbox: Allow students to write, compile, and execute lab code directly inside project roadmap tutorials.</a:t>
            </a:r>
          </a:p>
          <a:p>
            <a:pPr>
              <a:spcBef>
                <a:spcPts val="800"/>
              </a:spcBef>
              <a:defRPr sz="1050">
                <a:solidFill>
                  <a:srgbClr val="CBD5E1"/>
                </a:solidFill>
              </a:defRPr>
            </a:pPr>
            <a:r>
              <a:t>•  Automated Push Notification Daemon: Progressive Web App (PWA) push notifications alerting students whenever faculty update notes or exam schedules.</a:t>
            </a:r>
          </a:p>
          <a:p>
            <a:pPr>
              <a:spcBef>
                <a:spcPts val="800"/>
              </a:spcBef>
              <a:defRPr sz="1050">
                <a:solidFill>
                  <a:srgbClr val="CBD5E1"/>
                </a:solidFill>
              </a:defRPr>
            </a:pPr>
            <a:r>
              <a:t>•  Institutional LMS Integration: Standardized LTI (Learning Tools Interoperability) protocol connection with Moodle and Google Classroom.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515600" cy="320040"/>
          </a:xfrm>
          <a:prstGeom prst="rect">
            <a:avLst/>
          </a:prstGeom>
          <a:noFill/>
        </p:spPr>
        <p:txBody>
          <a:bodyPr wrap="square">
            <a:spAutoFit/>
          </a:bodyPr>
          <a:lstStyle/>
          <a:p>
            <a:pPr>
              <a:defRPr sz="1100" b="1">
                <a:solidFill>
                  <a:srgbClr val="0EA5E9"/>
                </a:solidFill>
              </a:defRPr>
            </a:pPr>
            <a:r>
              <a:t>SCHOLARLY LITERATURE</a:t>
            </a:r>
          </a:p>
        </p:txBody>
      </p:sp>
      <p:sp>
        <p:nvSpPr>
          <p:cNvPr id="4" name="TextBox 3"/>
          <p:cNvSpPr txBox="1"/>
          <p:nvPr/>
        </p:nvSpPr>
        <p:spPr>
          <a:xfrm>
            <a:off x="731520" y="640080"/>
            <a:ext cx="10515600" cy="731520"/>
          </a:xfrm>
          <a:prstGeom prst="rect">
            <a:avLst/>
          </a:prstGeom>
          <a:noFill/>
        </p:spPr>
        <p:txBody>
          <a:bodyPr wrap="square">
            <a:spAutoFit/>
          </a:bodyPr>
          <a:lstStyle/>
          <a:p>
            <a:pPr>
              <a:defRPr sz="2400" b="1">
                <a:solidFill>
                  <a:srgbClr val="FFFFFF"/>
                </a:solidFill>
              </a:defRPr>
            </a:pPr>
            <a:r>
              <a:t>Slide 14 – References (IEEE Standard Format)</a:t>
            </a:r>
          </a:p>
        </p:txBody>
      </p:sp>
      <p:sp>
        <p:nvSpPr>
          <p:cNvPr id="5" name="Rounded Rectangle 4"/>
          <p:cNvSpPr/>
          <p:nvPr/>
        </p:nvSpPr>
        <p:spPr>
          <a:xfrm>
            <a:off x="10972800" y="411480"/>
            <a:ext cx="640080" cy="3200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EA5E9"/>
                </a:solidFill>
              </a:defRPr>
            </a:pPr>
            <a:r>
              <a:t>14</a:t>
            </a:r>
          </a:p>
        </p:txBody>
      </p:sp>
      <p:sp>
        <p:nvSpPr>
          <p:cNvPr id="6" name="Rounded Rectangle 5"/>
          <p:cNvSpPr/>
          <p:nvPr/>
        </p:nvSpPr>
        <p:spPr>
          <a:xfrm>
            <a:off x="914400" y="1463040"/>
            <a:ext cx="10362895" cy="47548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100">
                <a:solidFill>
                  <a:srgbClr val="CBD5E1"/>
                </a:solidFill>
              </a:defRPr>
            </a:pPr>
            <a:r>
              <a:t>[1] M. A. Russell, "Centralized Web Repositories in Higher Education: A Quantitative Study on Student Engagement," IEEE Transactions on Learning Technologies, vol. 14, no. 3, pp. 312-325, June 2021.</a:t>
            </a:r>
          </a:p>
          <a:p>
            <a:pPr>
              <a:spcAft>
                <a:spcPts val="1000"/>
              </a:spcAft>
              <a:defRPr sz="1100">
                <a:solidFill>
                  <a:srgbClr val="CBD5E1"/>
                </a:solidFill>
              </a:defRPr>
            </a:pPr>
            <a:r>
              <a:t>[2] P. Kumar and S. Ramesh, "Conversational AI Agents in Engineering Curricula: Enhancing Autonomous Learning in Regional Dialects," in Proc. IEEE Int. Conf. on Advanced Learning Technologies (ICALT), 2023, pp. 104-108.</a:t>
            </a:r>
          </a:p>
          <a:p>
            <a:pPr>
              <a:spcAft>
                <a:spcPts val="1000"/>
              </a:spcAft>
              <a:defRPr sz="1100">
                <a:solidFill>
                  <a:srgbClr val="CBD5E1"/>
                </a:solidFill>
              </a:defRPr>
            </a:pPr>
            <a:r>
              <a:t>[3] D. Flanagan, JavaScript: The Definitive Guide - Master the World's Most-Used Programming Language, 7th ed. Sebastopol, CA: O'Reilly Media, 2020.</a:t>
            </a:r>
          </a:p>
          <a:p>
            <a:pPr>
              <a:spcAft>
                <a:spcPts val="1000"/>
              </a:spcAft>
              <a:defRPr sz="1100">
                <a:solidFill>
                  <a:srgbClr val="CBD5E1"/>
                </a:solidFill>
              </a:defRPr>
            </a:pPr>
            <a:r>
              <a:t>[4] V. Chodorow, MongoDB: The Definitive Guide - Powerful and Scalable Data Storage, 3rd ed. Sebastopol, CA: O'Reilly Media, 2021.</a:t>
            </a:r>
          </a:p>
          <a:p>
            <a:pPr>
              <a:spcAft>
                <a:spcPts val="1000"/>
              </a:spcAft>
              <a:defRPr sz="1100">
                <a:solidFill>
                  <a:srgbClr val="CBD5E1"/>
                </a:solidFill>
              </a:defRPr>
            </a:pPr>
            <a:r>
              <a:t>[5] Anna University, "Curriculum and Syllabi for Affiliated Institutions: Regulations 2021 &amp; 2025," Centre for Academic Courses, Anna University, Chennai, Tech. Rep. AUC-AC-R21, 2024.</a:t>
            </a:r>
          </a:p>
          <a:p>
            <a:pPr>
              <a:spcAft>
                <a:spcPts val="1000"/>
              </a:spcAft>
              <a:defRPr sz="1100">
                <a:solidFill>
                  <a:srgbClr val="CBD5E1"/>
                </a:solidFill>
              </a:defRPr>
            </a:pPr>
            <a:r>
              <a:t>[6] IEEE Standards Association, "IEEE Standard for Learning Object Metadata," IEEE Std 1484.12.1-2020, pp. 1-45, 2020.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097280"/>
            <a:ext cx="9448495" cy="4663440"/>
          </a:xfrm>
          <a:prstGeom prst="roundRect">
            <a:avLst/>
          </a:prstGeom>
          <a:solidFill>
            <a:srgbClr val="1E293B"/>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3000"/>
              </a:spcBef>
              <a:defRPr sz="1400" b="1">
                <a:solidFill>
                  <a:srgbClr val="0EA5E9"/>
                </a:solidFill>
              </a:defRPr>
            </a:pPr>
            <a:r>
              <a:t>REVIEW 3 – FINAL REVIEW</a:t>
            </a:r>
          </a:p>
          <a:p>
            <a:pPr algn="ctr">
              <a:spcBef>
                <a:spcPts val="1000"/>
              </a:spcBef>
              <a:defRPr sz="4000" b="1">
                <a:solidFill>
                  <a:srgbClr val="FFFFFF"/>
                </a:solidFill>
              </a:defRPr>
            </a:pPr>
            <a:r>
              <a:t>Thank You!</a:t>
            </a:r>
          </a:p>
          <a:p>
            <a:pPr algn="ctr">
              <a:spcBef>
                <a:spcPts val="1000"/>
              </a:spcBef>
              <a:defRPr sz="2200" b="1">
                <a:solidFill>
                  <a:srgbClr val="8B5CF6"/>
                </a:solidFill>
              </a:defRPr>
            </a:pPr>
            <a:r>
              <a:t>Questions &amp; Suggestions</a:t>
            </a:r>
          </a:p>
          <a:p>
            <a:pPr algn="ctr">
              <a:spcBef>
                <a:spcPts val="2400"/>
              </a:spcBef>
              <a:defRPr sz="1300">
                <a:solidFill>
                  <a:srgbClr val="CBD5E1"/>
                </a:solidFill>
              </a:defRPr>
            </a:pPr>
            <a:r>
              <a:t>Department Resource Management System (DRMS) with AI Chatbot</a:t>
            </a:r>
          </a:p>
          <a:p>
            <a:pPr algn="ctr">
              <a:spcBef>
                <a:spcPts val="800"/>
              </a:spcBef>
              <a:defRPr sz="1150" b="1">
                <a:solidFill>
                  <a:srgbClr val="10B981"/>
                </a:solidFill>
              </a:defRPr>
            </a:pPr>
            <a:r>
              <a:t>Presenter: Vijayavarshini S  |  Anna University Affiliated Engineering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